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73" r:id="rId7"/>
    <p:sldId id="279" r:id="rId8"/>
    <p:sldId id="280" r:id="rId9"/>
    <p:sldId id="263" r:id="rId10"/>
    <p:sldId id="264" r:id="rId11"/>
    <p:sldId id="269" r:id="rId12"/>
    <p:sldId id="277" r:id="rId13"/>
    <p:sldId id="270" r:id="rId14"/>
    <p:sldId id="268" r:id="rId15"/>
    <p:sldId id="266" r:id="rId16"/>
    <p:sldId id="271" r:id="rId17"/>
    <p:sldId id="272" r:id="rId18"/>
    <p:sldId id="262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AC3E6B-75A9-33FC-08EF-0CEF05AD7E60}" v="1114" dt="2026-03-05T18:27:43.015"/>
    <p1510:client id="{E61B090E-1551-7689-5FEC-DDF630F0473F}" v="1355" dt="2026-03-05T18:33:16.71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2" y="45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Accuracy &amp; Macro F1 by GNN Variant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563A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A: GCN only
(66-dim)</c:v>
                </c:pt>
                <c:pt idx="1">
                  <c:v>B: GCN+BERT
(835-dim)</c:v>
                </c:pt>
                <c:pt idx="2">
                  <c:v>C: GCN+CPG
(835-dim)</c:v>
                </c:pt>
                <c:pt idx="3">
                  <c:v>D: GAT+CPG
(835-dim)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89.85</c:v>
                </c:pt>
                <c:pt idx="1">
                  <c:v>91.88</c:v>
                </c:pt>
                <c:pt idx="2">
                  <c:v>91.94</c:v>
                </c:pt>
                <c:pt idx="3">
                  <c:v>90.71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2F-453B-BA5E-9EA6C18A47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 (%)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83.19</c:v>
                </c:pt>
                <c:pt idx="1">
                  <c:v>86.73</c:v>
                </c:pt>
                <c:pt idx="2">
                  <c:v>86.91</c:v>
                </c:pt>
                <c:pt idx="3">
                  <c:v>83.98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2F-453B-BA5E-9EA6C18A47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6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6T03:33:24.2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2699 5874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6T03:34:29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5398 10266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6T03:34:29.7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13626 10518 16383 0 0,'0'-5'0'0'0,"0"3"0"0"0,5 7 0 0 0,2 8 0 0 0,4 7 0 0 0,6 4 0 0 0,4 4 0 0 0,5 2 0 0 0,2 0 0 0 0,-4 1 0 0 0,0 0 0 0 0,0-6 0 0 0,-4-1 0 0 0,0-1 0 0 0,-4 2 0 0 0,1-4 0 0 0,2-6 0 0 0,3-5 0 0 0,3-14 0 0 0,2-16 0 0 0,1-11 0 0 0,2-4 0 0 0,-5-1 0 0 0,-2 5 0 0 0,-4 3 0 0 0,-6 1 0 0 0,0 0 0 0 0,-2 1 0 0 0,2 3 0 0 0,3-3 0 0 0,5 2 0 0 0,3-5 0 0 0,-2-2 0 0 0,-5-1 0 0 0,0 5 0 0 0,-3 2 0 0 0,-5 0 0 0 0,3 5 0 0 0,3 0 0 0 0,-1-1 0 0 0,3-2 0 0 0,-2-2 0 0 0,1 3 0 0 0,-1 0 0 0 0,1-1 0 0 0,3-1 0 0 0,-2-3 0 0 0,2 5 0 0 0,-4 0 0 0 0,2-1 0 0 0,-2-1 0 0 0,1 3 0 0 0,3-5 0 0 0,3 2 0 0 0,3-5 0 0 0,2 3 0 0 0,2 0 0 0 0,0 0 0 0 0,1 0 0 0 0,0-2 0 0 0,0 5 0 0 0,5 1 0 0 0,7-6 0 0 0,0 2 0 0 0,-1 0 0 0 0,-3 0 0 0 0,-2 4 0 0 0,-9 1 0 0 0,-2 4 0 0 0,-7 5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6T03:34:29.7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5398 10266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D0B7D-0AC4-4AD8-91EF-97F898848BCA}" type="datetimeFigureOut"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BD4F03-C7EE-4AB7-A847-FDD1FB5D544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61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1926" y="1753615"/>
            <a:ext cx="4242435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1599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0913" y="59182"/>
            <a:ext cx="11390172" cy="795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83950" y="6449170"/>
            <a:ext cx="25971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Arial MT"/>
                <a:cs typeface="Arial MT"/>
              </a:defRPr>
            </a:lvl1pPr>
          </a:lstStyle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customXml" Target="../ink/ink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130.png"/><Relationship Id="rId4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596117" y="4675392"/>
            <a:ext cx="4575730" cy="129522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l">
              <a:spcBef>
                <a:spcPts val="100"/>
              </a:spcBef>
            </a:pPr>
            <a:r>
              <a:rPr lang="en-US" sz="1600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Batch No: 01</a:t>
            </a:r>
            <a:endParaRPr lang="en-US" dirty="0">
              <a:solidFill>
                <a:schemeClr val="tx1"/>
              </a:solidFill>
            </a:endParaRPr>
          </a:p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1600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Names of Batch Members (Reg. No.) :</a:t>
            </a:r>
          </a:p>
          <a:p>
            <a:pPr marL="12700" algn="l">
              <a:spcBef>
                <a:spcPts val="100"/>
              </a:spcBef>
            </a:pPr>
            <a:r>
              <a:rPr lang="en-US" sz="1600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G. Sai Kaushik  </a:t>
            </a:r>
          </a:p>
          <a:p>
            <a:pPr marL="12700" algn="l">
              <a:spcBef>
                <a:spcPts val="100"/>
              </a:spcBef>
            </a:pPr>
            <a:r>
              <a:rPr lang="en-US" sz="1600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G. Kaarthikeya Lakshman–</a:t>
            </a:r>
          </a:p>
          <a:p>
            <a:pPr marL="12700" algn="l">
              <a:spcBef>
                <a:spcPts val="100"/>
              </a:spcBef>
            </a:pPr>
            <a:r>
              <a:rPr lang="en-US" sz="1600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P.V.S Sai Pranav– 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924292" y="4814696"/>
            <a:ext cx="27463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</a:endParaRPr>
          </a:p>
        </p:txBody>
      </p:sp>
      <p:grpSp>
        <p:nvGrpSpPr>
          <p:cNvPr id="10" name="Google Shape;91;p1">
            <a:extLst>
              <a:ext uri="{FF2B5EF4-FFF2-40B4-BE49-F238E27FC236}">
                <a16:creationId xmlns:a16="http://schemas.microsoft.com/office/drawing/2014/main" id="{AE640556-CF11-EB18-5863-62CCFE2CAF90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11" name="Google Shape;92;p1">
              <a:extLst>
                <a:ext uri="{FF2B5EF4-FFF2-40B4-BE49-F238E27FC236}">
                  <a16:creationId xmlns:a16="http://schemas.microsoft.com/office/drawing/2014/main" id="{0D582E0F-A53F-F6EF-77A9-718BBC254DE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93;p1">
              <a:extLst>
                <a:ext uri="{FF2B5EF4-FFF2-40B4-BE49-F238E27FC236}">
                  <a16:creationId xmlns:a16="http://schemas.microsoft.com/office/drawing/2014/main" id="{D740D307-06E2-1E08-9835-FEAE7B0572C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94;p1">
              <a:extLst>
                <a:ext uri="{FF2B5EF4-FFF2-40B4-BE49-F238E27FC236}">
                  <a16:creationId xmlns:a16="http://schemas.microsoft.com/office/drawing/2014/main" id="{B7FB8DDB-44E7-0050-A75B-02B9BC41144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Rectangle 3">
            <a:extLst>
              <a:ext uri="{FF2B5EF4-FFF2-40B4-BE49-F238E27FC236}">
                <a16:creationId xmlns:a16="http://schemas.microsoft.com/office/drawing/2014/main" id="{91B15839-8029-3F68-84EA-A0C0B4739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7690" y="1659114"/>
            <a:ext cx="55626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algn="l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971800" algn="ctr"/>
                <a:tab pos="5943600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971800" algn="ctr"/>
                <a:tab pos="5943600" algn="r"/>
              </a:tabLst>
            </a:pPr>
            <a:endParaRPr lang="en-US" altLang="en-US" sz="2200" b="1" dirty="0">
              <a:solidFill>
                <a:schemeClr val="accent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3342F9-C67C-DE0B-C208-1B86AE4E318D}"/>
              </a:ext>
            </a:extLst>
          </p:cNvPr>
          <p:cNvSpPr txBox="1"/>
          <p:nvPr/>
        </p:nvSpPr>
        <p:spPr>
          <a:xfrm>
            <a:off x="1600200" y="3048000"/>
            <a:ext cx="944880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b="1" err="1">
                <a:solidFill>
                  <a:srgbClr val="FF0000"/>
                </a:solidFill>
                <a:latin typeface="Times New Roman"/>
                <a:cs typeface="Times New Roman"/>
              </a:rPr>
              <a:t>RustCPG</a:t>
            </a:r>
            <a:r>
              <a:rPr lang="en-US" sz="2400" b="1">
                <a:solidFill>
                  <a:srgbClr val="FF0000"/>
                </a:solidFill>
                <a:latin typeface="Times New Roman"/>
                <a:cs typeface="Times New Roman"/>
              </a:rPr>
              <a:t>-Detect: Compiler Property Graph-Enhanced Vulnerability Detection in Rust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2" name="Picture 1" descr="Amrita Online Application Portal (AOAP) managed by ...">
            <a:extLst>
              <a:ext uri="{FF2B5EF4-FFF2-40B4-BE49-F238E27FC236}">
                <a16:creationId xmlns:a16="http://schemas.microsoft.com/office/drawing/2014/main" id="{746AD59B-76C3-05C9-1E32-26A0FD6FE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2769" y="159549"/>
            <a:ext cx="6373903" cy="2082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89F280-20F4-6BDA-188A-0F5DF2C08C98}"/>
              </a:ext>
            </a:extLst>
          </p:cNvPr>
          <p:cNvSpPr txBox="1"/>
          <p:nvPr/>
        </p:nvSpPr>
        <p:spPr>
          <a:xfrm>
            <a:off x="3278521" y="1872983"/>
            <a:ext cx="6096000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ctr" rtl="0"/>
            <a:r>
              <a:rPr lang="en-US" sz="2200" b="1" i="0" baseline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______________________________________</a:t>
            </a:r>
          </a:p>
          <a:p>
            <a:pPr marL="0" indent="0" algn="ctr" rtl="0"/>
            <a:r>
              <a:rPr lang="en-US" b="1">
                <a:solidFill>
                  <a:srgbClr val="C00000"/>
                </a:solidFill>
                <a:latin typeface="Times New Roman"/>
                <a:ea typeface="Calibri"/>
                <a:cs typeface="Times New Roman"/>
              </a:rPr>
              <a:t>AMARAVATI CAMPUS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2</a:t>
            </a:fld>
            <a:endParaRPr spc="-5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9512" y="505964"/>
            <a:ext cx="10932973" cy="56682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37160">
              <a:lnSpc>
                <a:spcPct val="100000"/>
              </a:lnSpc>
              <a:spcBef>
                <a:spcPts val="100"/>
              </a:spcBef>
            </a:pPr>
            <a:r>
              <a:rPr sz="3600" spc="-10">
                <a:solidFill>
                  <a:srgbClr val="3E3E3E"/>
                </a:solidFill>
                <a:ea typeface="Calibri"/>
              </a:rPr>
              <a:t>CONTENTS</a:t>
            </a:r>
            <a:endParaRPr lang="en-US" sz="3600">
              <a:ea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2987" y="1079757"/>
            <a:ext cx="6884143" cy="5768887"/>
          </a:xfrm>
          <a:prstGeom prst="rect">
            <a:avLst/>
          </a:prstGeom>
        </p:spPr>
        <p:txBody>
          <a:bodyPr vert="horz" wrap="square" lIns="0" tIns="165735" rIns="0" bIns="0" rtlCol="0" anchor="t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305"/>
              </a:spcBef>
              <a:buFont typeface="Wingdings"/>
              <a:buChar char="Ø"/>
              <a:tabLst>
                <a:tab pos="469265" algn="l"/>
              </a:tabLst>
            </a:pPr>
            <a:r>
              <a:rPr b="1" spc="-10" dirty="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Introduction</a:t>
            </a:r>
            <a:r>
              <a:rPr lang="en-US" b="1" spc="-10" dirty="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 </a:t>
            </a:r>
            <a:endParaRPr lang="en-US" b="1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355600" indent="-342900">
              <a:spcBef>
                <a:spcPts val="1305"/>
              </a:spcBef>
              <a:buFont typeface="Wingdings"/>
              <a:buChar char="Ø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Problem Statement</a:t>
            </a:r>
          </a:p>
          <a:p>
            <a:pPr marL="355600" indent="-342900">
              <a:spcBef>
                <a:spcPts val="1305"/>
              </a:spcBef>
              <a:buFont typeface="Wingdings"/>
              <a:buChar char="Ø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Literature Survey</a:t>
            </a:r>
          </a:p>
          <a:p>
            <a:pPr marL="355600" indent="-342900">
              <a:spcBef>
                <a:spcPts val="1305"/>
              </a:spcBef>
              <a:buFont typeface="Wingdings"/>
              <a:buChar char="Ø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Base Paper Summary</a:t>
            </a:r>
          </a:p>
          <a:p>
            <a:pPr marL="355600" indent="-342900">
              <a:spcBef>
                <a:spcPts val="1305"/>
              </a:spcBef>
              <a:buFont typeface="Wingdings"/>
              <a:buChar char="Ø"/>
              <a:tabLst>
                <a:tab pos="469265" algn="l"/>
              </a:tabLst>
            </a:pPr>
            <a:r>
              <a:rPr lang="en-US" b="1" spc="-10" dirty="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Project Overview &amp; System Architecture</a:t>
            </a:r>
          </a:p>
          <a:p>
            <a:pPr marL="355600" indent="-342900">
              <a:spcBef>
                <a:spcPts val="1305"/>
              </a:spcBef>
              <a:buFont typeface="Wingdings"/>
              <a:buChar char="Ø"/>
              <a:tabLst>
                <a:tab pos="469265" algn="l"/>
              </a:tabLst>
            </a:pPr>
            <a:r>
              <a:rPr lang="en-US" b="1" spc="-1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Dataset</a:t>
            </a:r>
            <a:endParaRPr lang="en-US" spc="-1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355600" indent="-342900">
              <a:spcBef>
                <a:spcPts val="1305"/>
              </a:spcBef>
              <a:buFont typeface="Wingdings"/>
              <a:buChar char="Ø"/>
              <a:tabLst>
                <a:tab pos="469265" algn="l"/>
              </a:tabLst>
            </a:pPr>
            <a:r>
              <a:rPr lang="en-US" b="1" spc="-1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GNN Albation Study  </a:t>
            </a:r>
            <a:endParaRPr lang="en-US" spc="-1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355600" indent="-342900">
              <a:spcBef>
                <a:spcPts val="1305"/>
              </a:spcBef>
              <a:buFont typeface="Wingdings"/>
              <a:buChar char="Ø"/>
              <a:tabLst>
                <a:tab pos="469265" algn="l"/>
              </a:tabLst>
            </a:pPr>
            <a:r>
              <a:rPr lang="en-US" b="1" spc="-1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Complete Results </a:t>
            </a:r>
            <a:endParaRPr lang="en-US" spc="-1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355600" indent="-342900">
              <a:spcBef>
                <a:spcPts val="1305"/>
              </a:spcBef>
              <a:buFont typeface="Wingdings"/>
              <a:buChar char="Ø"/>
              <a:tabLst>
                <a:tab pos="469265" algn="l"/>
              </a:tabLst>
            </a:pPr>
            <a:r>
              <a:rPr lang="en-US" b="1" spc="-1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Novelty</a:t>
            </a:r>
            <a:endParaRPr lang="en-US" spc="-1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355600" indent="-342900">
              <a:spcBef>
                <a:spcPts val="1305"/>
              </a:spcBef>
              <a:buFont typeface="Wingdings"/>
              <a:buChar char="Ø"/>
              <a:tabLst>
                <a:tab pos="469265" algn="l"/>
              </a:tabLst>
            </a:pPr>
            <a:r>
              <a:rPr lang="en-US" b="1" spc="-1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Limitations &amp; Future Enhacements</a:t>
            </a:r>
            <a:endParaRPr lang="en-US" spc="-1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355600" indent="-342900">
              <a:spcBef>
                <a:spcPts val="1305"/>
              </a:spcBef>
              <a:buFont typeface="Wingdings"/>
              <a:buChar char="Ø"/>
              <a:tabLst>
                <a:tab pos="469265" algn="l"/>
              </a:tabLst>
            </a:pPr>
            <a:r>
              <a:rPr lang="en-US" b="1" spc="-1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Conclusion </a:t>
            </a:r>
            <a:endParaRPr lang="en-US" spc="-1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305"/>
              </a:spcBef>
              <a:buFont typeface="Wingdings"/>
              <a:buChar char="Ø"/>
              <a:tabLst>
                <a:tab pos="469265" algn="l"/>
              </a:tabLst>
            </a:pPr>
            <a:endParaRPr lang="en-US" b="1" spc="-10" dirty="0">
              <a:solidFill>
                <a:srgbClr val="FF0000"/>
              </a:solidFill>
              <a:latin typeface="Times New Roman"/>
              <a:ea typeface="Calibri"/>
              <a:cs typeface="Times New Roman"/>
            </a:endParaRPr>
          </a:p>
          <a:p>
            <a:pPr marL="355600" indent="-342900">
              <a:spcBef>
                <a:spcPts val="1305"/>
              </a:spcBef>
              <a:buFont typeface="Wingdings"/>
              <a:buChar char="Ø"/>
              <a:tabLst>
                <a:tab pos="469265" algn="l"/>
              </a:tabLst>
            </a:pPr>
            <a:endParaRPr lang="en-US" b="1" spc="-10" dirty="0">
              <a:solidFill>
                <a:srgbClr val="FF0000"/>
              </a:solidFill>
              <a:latin typeface="Times New Roman"/>
              <a:ea typeface="Calibri"/>
              <a:cs typeface="Times New Roman"/>
            </a:endParaRPr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61429E26-2850-D401-C0BA-EA2EBF40AA66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0F1D4765-5974-AD5D-46B9-3CC17BE84C1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E0B71BDD-65FF-65C5-3C32-24C5D62F39A3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C8C0778C-9DEC-51D7-206A-B139E621244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D84DDD7-B551-379F-60D1-B43FB2CD9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38FD184-9FB2-6630-B841-8F708AE2450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3</a:t>
            </a:fld>
            <a:endParaRPr spc="-5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BBE2DEE7-849B-F52C-C240-2CF140E8D9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179" y="342681"/>
            <a:ext cx="10953567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37160">
              <a:lnSpc>
                <a:spcPct val="100000"/>
              </a:lnSpc>
              <a:spcBef>
                <a:spcPts val="100"/>
              </a:spcBef>
            </a:pPr>
            <a:r>
              <a:rPr lang="en-US" sz="2800" spc="-10">
                <a:solidFill>
                  <a:srgbClr val="3E3E3E"/>
                </a:solidFill>
                <a:ea typeface="Calibri"/>
              </a:rPr>
              <a:t>INTRODUCTION</a:t>
            </a:r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ED3B6F87-CD14-DC33-2877-8E8F325A94EE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992710CA-74BE-FAEA-F76B-DB25D36CCC5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18AA0EAD-DB6E-35C3-40EC-38C26D52194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C93BFED1-8AC9-CB63-5061-5A33CC0A89D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FB3F74FC-283F-1D59-9795-820179347F48}"/>
              </a:ext>
            </a:extLst>
          </p:cNvPr>
          <p:cNvSpPr txBox="1"/>
          <p:nvPr/>
        </p:nvSpPr>
        <p:spPr>
          <a:xfrm>
            <a:off x="459444" y="1086971"/>
            <a:ext cx="11261909" cy="52014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>
                <a:solidFill>
                  <a:schemeClr val="tx1"/>
                </a:solidFill>
                <a:latin typeface="Times New Roman"/>
                <a:cs typeface="Times New Roman"/>
              </a:rPr>
              <a:t>Rust is a modern systems programming language designed to ensure memory safety through mechanisms such as ownership, borrowing, and lifetime management.</a:t>
            </a:r>
            <a:endParaRPr lang="en-US" sz="20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 algn="l">
              <a:buFont typeface="Arial"/>
              <a:buChar char="•"/>
            </a:pPr>
            <a:endParaRPr lang="en-US" sz="20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 algn="l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Times New Roman"/>
                <a:cs typeface="Times New Roman"/>
              </a:rPr>
              <a:t>Although Rust provides strong safety guarantees, the use of the unsafe keyword allows developers to 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perform low-level operations where these guarantees are relaxed.</a:t>
            </a:r>
          </a:p>
          <a:p>
            <a:pPr marL="342900" indent="-342900" algn="l"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 algn="l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Times New Roman"/>
                <a:cs typeface="Times New Roman"/>
              </a:rPr>
              <a:t>Such unsafe operations can introduce vulnerabilities including 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Use-After-Free, Data Races, and Memory Corruption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, which may compromise program reliability and security.</a:t>
            </a:r>
          </a:p>
          <a:p>
            <a:pPr marL="342900" indent="-342900" algn="l"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 algn="l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Times New Roman"/>
                <a:cs typeface="Times New Roman"/>
              </a:rPr>
              <a:t> Detecting these vulnerabilities is challenging because traditional static analysis methods often fail to capture deeper semantic relationships in code.</a:t>
            </a: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 algn="l"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 algn="l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Times New Roman"/>
                <a:cs typeface="Times New Roman"/>
              </a:rPr>
              <a:t>Recent approaches leverage 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LLVM Intermediate Representation (LLVM IR)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and deep learning models like 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GraphCodeBERT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to generate semantic embeddings for vulnerability detection.</a:t>
            </a:r>
          </a:p>
          <a:p>
            <a:pPr marL="342900" indent="-342900" algn="l">
              <a:buFont typeface="Arial"/>
              <a:buChar char="•"/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 algn="l">
              <a:buFont typeface="Arial"/>
              <a:buChar char="•"/>
            </a:pPr>
            <a:r>
              <a:rPr lang="en-US">
                <a:solidFill>
                  <a:schemeClr val="tx1"/>
                </a:solidFill>
                <a:latin typeface="Times New Roman"/>
                <a:cs typeface="Times New Roman"/>
              </a:rPr>
              <a:t>In this work, we extend this idea by incorporating 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Code Property Graph (CPG) structural features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and 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Graph Neural Networks (GNNs)</a:t>
            </a:r>
            <a:r>
              <a:rPr lang="en-US" dirty="0">
                <a:solidFill>
                  <a:schemeClr val="tx1"/>
                </a:solidFill>
                <a:latin typeface="Times New Roman"/>
                <a:cs typeface="Times New Roman"/>
              </a:rPr>
              <a:t> to improve the detection and classification of unsafe Rust vulnerabilities.</a:t>
            </a:r>
          </a:p>
          <a:p>
            <a:pPr marL="342900" indent="-342900">
              <a:buFont typeface="Arial"/>
              <a:buChar char="•"/>
            </a:pPr>
            <a:endParaRPr lang="en-US" sz="2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704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4960A6-3E92-9593-7A78-36D145DB9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E4B83E8-CE2C-1A71-72D0-7765CBCAE77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283950" y="6449170"/>
            <a:ext cx="25971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lang="en-GB" spc="-50" dirty="0"/>
              <a:t>4</a:t>
            </a:fld>
            <a:endParaRPr lang="en-GB" spc="-5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AB20915-8CFC-9015-9423-D90CBF26A1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7117" y="228912"/>
            <a:ext cx="10932973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37160">
              <a:spcBef>
                <a:spcPts val="100"/>
              </a:spcBef>
            </a:pPr>
            <a:r>
              <a:rPr lang="en-US" sz="2800" spc="-10">
                <a:solidFill>
                  <a:srgbClr val="3E3E3E"/>
                </a:solidFill>
                <a:ea typeface="Calibri"/>
              </a:rPr>
              <a:t>PROBLEM STATEMENT</a:t>
            </a:r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B0E2A091-71C3-2D0E-6019-70E41BFCEBB9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215BDD1F-D769-4B25-AE5D-0FAF4DFB050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CE77487B-0FE5-9C90-3015-21B63E17E6C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A98A04FD-F6AF-233F-3BE9-D0FA1816C22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C7D3F10-9371-6DAC-DB4E-61B8CF27A7AD}"/>
              </a:ext>
            </a:extLst>
          </p:cNvPr>
          <p:cNvSpPr txBox="1"/>
          <p:nvPr/>
        </p:nvSpPr>
        <p:spPr>
          <a:xfrm>
            <a:off x="318913" y="839086"/>
            <a:ext cx="6033659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latin typeface="Times New Roman"/>
                <a:cs typeface="Times New Roman"/>
              </a:rPr>
              <a:t>Motivation</a:t>
            </a:r>
            <a:endParaRPr lang="en-US" b="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>
                <a:latin typeface="Times New Roman"/>
                <a:cs typeface="Times New Roman"/>
              </a:rPr>
              <a:t>Modern Rust projects use unsafe blocks for performance and FFI operations.</a:t>
            </a:r>
          </a:p>
          <a:p>
            <a:pPr marL="342900" indent="-342900" algn="l">
              <a:buChar char="•"/>
            </a:pPr>
            <a:r>
              <a:rPr lang="en-US">
                <a:latin typeface="Times New Roman"/>
                <a:cs typeface="Times New Roman"/>
              </a:rPr>
              <a:t>Despite Rust’s compiler safety checks, vulnerabilities such as Use-After-Free, Data Races, Integer Overflows, and Memory Corruption can still occur in unsafe regions.</a:t>
            </a:r>
          </a:p>
          <a:p>
            <a:pPr marL="342900" indent="-342900" algn="l">
              <a:buChar char="•"/>
            </a:pPr>
            <a:r>
              <a:rPr lang="en-US">
                <a:latin typeface="Times New Roman"/>
                <a:cs typeface="Times New Roman"/>
              </a:rPr>
              <a:t>Existing static analysis tools are either:</a:t>
            </a:r>
          </a:p>
          <a:p>
            <a:pPr marL="342900" lvl="1" indent="-342900" algn="l">
              <a:buChar char="•"/>
            </a:pPr>
            <a:r>
              <a:rPr lang="en-US">
                <a:latin typeface="Times New Roman"/>
                <a:cs typeface="Times New Roman"/>
              </a:rPr>
              <a:t>Too conservative (high false positives), or</a:t>
            </a:r>
          </a:p>
          <a:p>
            <a:pPr marL="342900" lvl="1" indent="-342900" algn="l">
              <a:buChar char="•"/>
            </a:pPr>
            <a:r>
              <a:rPr lang="en-US">
                <a:latin typeface="Times New Roman"/>
                <a:cs typeface="Times New Roman"/>
              </a:rPr>
              <a:t>Too shallow (source-code level, missing deeper semantic patterns).</a:t>
            </a:r>
          </a:p>
          <a:p>
            <a:pPr algn="l"/>
            <a:endParaRPr lang="en-US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F37F21-9AB1-42F0-6CAD-6FC6A3FA5031}"/>
              </a:ext>
            </a:extLst>
          </p:cNvPr>
          <p:cNvSpPr txBox="1"/>
          <p:nvPr/>
        </p:nvSpPr>
        <p:spPr>
          <a:xfrm>
            <a:off x="6577853" y="840441"/>
            <a:ext cx="517711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Key Gaps in Existing Work</a:t>
            </a:r>
            <a:endParaRPr lang="en-US" b="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Source-code analysis misses control-flow semantics.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No unified tool for multi-class Rust vulnerability classification.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Graph structural features of IR are underutilized.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Existing ML approaches do not leverage Code Property Graphs (CPG).</a:t>
            </a:r>
          </a:p>
          <a:p>
            <a:pPr algn="ctr"/>
            <a:endParaRPr lang="en-US">
              <a:latin typeface="Times New Roman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11BDDD-6E7D-E156-3C2F-5ADDBB585A12}"/>
              </a:ext>
            </a:extLst>
          </p:cNvPr>
          <p:cNvSpPr txBox="1"/>
          <p:nvPr/>
        </p:nvSpPr>
        <p:spPr>
          <a:xfrm>
            <a:off x="313765" y="3933265"/>
            <a:ext cx="8314764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Research Goal</a:t>
            </a:r>
            <a:br>
              <a:rPr lang="en-US">
                <a:latin typeface="Times New Roman"/>
                <a:cs typeface="Times New Roman"/>
              </a:rPr>
            </a:br>
            <a:r>
              <a:rPr lang="en-US">
                <a:latin typeface="Times New Roman"/>
                <a:cs typeface="Times New Roman"/>
              </a:rPr>
              <a:t>Develop a </a:t>
            </a:r>
            <a:r>
              <a:rPr lang="en-US" b="1">
                <a:latin typeface="Times New Roman"/>
                <a:cs typeface="Times New Roman"/>
              </a:rPr>
              <a:t>CPG-enhanced vulnerability detection pipeline for Rust</a:t>
            </a:r>
            <a:r>
              <a:rPr lang="en-US">
                <a:latin typeface="Times New Roman"/>
                <a:cs typeface="Times New Roman"/>
              </a:rPr>
              <a:t> that: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28600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Uses </a:t>
            </a:r>
            <a:r>
              <a:rPr lang="en-US" b="1">
                <a:latin typeface="Times New Roman"/>
                <a:cs typeface="Times New Roman"/>
              </a:rPr>
              <a:t>LLVM IR + </a:t>
            </a:r>
            <a:r>
              <a:rPr lang="en-US" b="1" err="1">
                <a:latin typeface="Times New Roman"/>
                <a:cs typeface="Times New Roman"/>
              </a:rPr>
              <a:t>GraphCodeBERT</a:t>
            </a:r>
            <a:r>
              <a:rPr lang="en-US" b="1">
                <a:latin typeface="Times New Roman"/>
                <a:cs typeface="Times New Roman"/>
              </a:rPr>
              <a:t> embeddings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Incorporates </a:t>
            </a:r>
            <a:r>
              <a:rPr lang="en-US" b="1">
                <a:latin typeface="Times New Roman"/>
                <a:cs typeface="Times New Roman"/>
              </a:rPr>
              <a:t>Code Property Graph structural features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Performs </a:t>
            </a:r>
            <a:r>
              <a:rPr lang="en-US" b="1">
                <a:latin typeface="Times New Roman"/>
                <a:cs typeface="Times New Roman"/>
              </a:rPr>
              <a:t>fine-grained 5-class vulnerability classification</a:t>
            </a:r>
          </a:p>
          <a:p>
            <a:pPr marL="228600" indent="-228600"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Validates performance through </a:t>
            </a:r>
            <a:r>
              <a:rPr lang="en-US" b="1">
                <a:latin typeface="Times New Roman"/>
                <a:cs typeface="Times New Roman"/>
              </a:rPr>
              <a:t>GNN ablation studies</a:t>
            </a:r>
          </a:p>
          <a:p>
            <a:pPr algn="ctr"/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4883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91C883-0F43-B725-B7DF-575DFD24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C3C006D-4B87-B7E2-0DC9-C664D173C68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5</a:t>
            </a:fld>
            <a:endParaRPr spc="-5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EF981B2C-8BAA-041E-3EA9-03064EC002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365" y="337876"/>
            <a:ext cx="10932973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37160">
              <a:spcBef>
                <a:spcPts val="100"/>
              </a:spcBef>
            </a:pPr>
            <a:r>
              <a:rPr lang="en-US" sz="2800" spc="-10">
                <a:solidFill>
                  <a:srgbClr val="3E3E3E"/>
                </a:solidFill>
                <a:ea typeface="Calibri"/>
              </a:rPr>
              <a:t>LITERATURE SURVEY</a:t>
            </a:r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C0677BF3-E349-02B5-93BF-A583F9E3DDA4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421EA7C0-15FA-E2C4-192B-24E730ACC98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32A4B055-15AE-A9C0-2A62-54F74C6143F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C1539B95-4A21-E481-775F-7D31D1C6B21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" name="Picture 2" descr="A table with blue and white text&#10;&#10;AI-generated content may be incorrect.">
            <a:extLst>
              <a:ext uri="{FF2B5EF4-FFF2-40B4-BE49-F238E27FC236}">
                <a16:creationId xmlns:a16="http://schemas.microsoft.com/office/drawing/2014/main" id="{3A800EE5-37D7-2164-E08C-05A3592FF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81" y="923795"/>
            <a:ext cx="11497237" cy="471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2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396F1A-0ACE-7AD8-FA2C-001E94BF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43B31BAF-1842-3980-C0A5-AAFDB9E2426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6</a:t>
            </a:fld>
            <a:endParaRPr spc="-5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C02A378D-0BB0-2AE6-85E3-F832437FF9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2130" y="349082"/>
            <a:ext cx="10932973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37160">
              <a:spcBef>
                <a:spcPts val="100"/>
              </a:spcBef>
            </a:pPr>
            <a:r>
              <a:rPr lang="en-US" sz="2800" spc="-10">
                <a:solidFill>
                  <a:srgbClr val="3E3E3E"/>
                </a:solidFill>
                <a:ea typeface="Calibri"/>
              </a:rPr>
              <a:t>LITERATURE SURVEY</a:t>
            </a:r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B688D685-9AF7-262B-8BB7-081C5A9E5560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89568B20-17EE-D519-BF00-F909FE4A4A6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3CFBFBB5-BF7A-4DA8-8483-65EF4E12494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CCA37586-C662-BCC0-6EC5-205E5950F57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" name="Picture 2" descr="A blue and white table with text&#10;&#10;AI-generated content may be incorrect.">
            <a:extLst>
              <a:ext uri="{FF2B5EF4-FFF2-40B4-BE49-F238E27FC236}">
                <a16:creationId xmlns:a16="http://schemas.microsoft.com/office/drawing/2014/main" id="{ED7AEEE0-5467-F3B3-7EA5-9959210D48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20" y="1072499"/>
            <a:ext cx="11690960" cy="471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368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CED48C-6C21-6642-BF08-DA31CECB5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BA49832-8F02-BC36-3C01-C87B0E50582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7</a:t>
            </a:fld>
            <a:endParaRPr spc="-5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ECD0B4F-7F93-55B4-68BE-DD1B173FE6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512" y="505964"/>
            <a:ext cx="10932973" cy="87459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2800" spc="-10" dirty="0">
                <a:solidFill>
                  <a:srgbClr val="3E3E3E"/>
                </a:solidFill>
                <a:ea typeface="Calibri"/>
              </a:rPr>
              <a:t>BASE PAPER SUMMARY — Rust-IR-BERT</a:t>
            </a:r>
          </a:p>
          <a:p>
            <a:pPr algn="l"/>
            <a:endParaRPr lang="en-US" sz="2800" spc="-10" dirty="0">
              <a:solidFill>
                <a:srgbClr val="3E3E3E"/>
              </a:solidFill>
              <a:ea typeface="Calibri"/>
            </a:endParaRPr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C1181C90-280F-446A-F1AF-603D3A91E7BB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1758D92B-E426-7A36-80DA-D50BEF6F598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BF3598F3-9193-6258-71AD-8C5FC66D33D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4EB7ADB0-2597-FCEC-1EA9-A9C5FB650C4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35F9EEF-11AD-7AA9-AE44-44D41800CB62}"/>
              </a:ext>
            </a:extLst>
          </p:cNvPr>
          <p:cNvSpPr txBox="1"/>
          <p:nvPr/>
        </p:nvSpPr>
        <p:spPr>
          <a:xfrm>
            <a:off x="623455" y="1067250"/>
            <a:ext cx="11285193" cy="18312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Paper Description : </a:t>
            </a:r>
            <a:endParaRPr lang="en-US" sz="2000" b="1" dirty="0">
              <a:latin typeface="Times New Roman"/>
              <a:cs typeface="Times New Roman"/>
            </a:endParaRPr>
          </a:p>
          <a:p>
            <a:pPr algn="l"/>
            <a:r>
              <a:rPr lang="en-US" sz="1600" dirty="0">
                <a:solidFill>
                  <a:schemeClr val="tx1"/>
                </a:solidFill>
                <a:latin typeface="Times New Roman"/>
                <a:cs typeface="Times New Roman"/>
              </a:rPr>
              <a:t>This paper proposes Rust-IR-BERT, a novel ML pipeline for Rust vulnerability detection: it compiles code to LLVM IR, extracts 768D </a:t>
            </a:r>
            <a:r>
              <a:rPr lang="en-US" sz="1600" dirty="0" err="1">
                <a:solidFill>
                  <a:schemeClr val="tx1"/>
                </a:solidFill>
                <a:latin typeface="Times New Roman"/>
                <a:cs typeface="Times New Roman"/>
              </a:rPr>
              <a:t>GraphCodeBERT</a:t>
            </a:r>
            <a:r>
              <a:rPr lang="en-US" sz="1600" dirty="0">
                <a:solidFill>
                  <a:schemeClr val="tx1"/>
                </a:solidFill>
                <a:latin typeface="Times New Roman"/>
                <a:cs typeface="Times New Roman"/>
              </a:rPr>
              <a:t> embeddings (encoding data/control-flow semantics), and classifies via CatBoost. Trained on 2300+ labeled samples from </a:t>
            </a:r>
            <a:r>
              <a:rPr lang="en-US" sz="1600" dirty="0" err="1">
                <a:solidFill>
                  <a:schemeClr val="tx1"/>
                </a:solidFill>
                <a:latin typeface="Times New Roman"/>
                <a:cs typeface="Times New Roman"/>
              </a:rPr>
              <a:t>RustSec</a:t>
            </a:r>
            <a:r>
              <a:rPr lang="en-US" sz="1600">
                <a:solidFill>
                  <a:schemeClr val="tx1"/>
                </a:solidFill>
                <a:latin typeface="Times New Roman"/>
                <a:cs typeface="Times New Roman"/>
              </a:rPr>
              <a:t>/OSV/GitHub, it yields hi accuracy/ F1 on held-out tests (93.7% vulnerable recall), surpassing source-based baselines </a:t>
            </a:r>
            <a:r>
              <a:rPr lang="en-US" sz="1600" dirty="0">
                <a:solidFill>
                  <a:schemeClr val="tx1"/>
                </a:solidFill>
                <a:latin typeface="Times New Roman"/>
                <a:cs typeface="Times New Roman"/>
              </a:rPr>
              <a:t>and tools like HALURust  by reducing syntactic noise; it generalizes to unseen crates (95.5% accuracy), supporting early CI/CD scans.</a:t>
            </a:r>
          </a:p>
          <a:p>
            <a:pPr algn="l"/>
            <a:endParaRPr lang="en-US" sz="1100" i="1" dirty="0">
              <a:solidFill>
                <a:srgbClr val="5A6A7E"/>
              </a:solidFill>
              <a:latin typeface="Calibri"/>
              <a:ea typeface="Calibri"/>
              <a:cs typeface="Calibri"/>
            </a:endParaRPr>
          </a:p>
          <a:p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8E4EB0-2A75-1B39-DE52-B30095BB0D6D}"/>
              </a:ext>
            </a:extLst>
          </p:cNvPr>
          <p:cNvSpPr txBox="1"/>
          <p:nvPr/>
        </p:nvSpPr>
        <p:spPr>
          <a:xfrm>
            <a:off x="623331" y="2623108"/>
            <a:ext cx="4248301" cy="49705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dirty="0">
                <a:latin typeface="Times New Roman"/>
                <a:cs typeface="Times New Roman"/>
              </a:rPr>
              <a:t>Key Contributions of the Paper :</a:t>
            </a:r>
            <a:endParaRPr lang="en-US" sz="2000" dirty="0">
              <a:latin typeface="Times New Roman"/>
              <a:cs typeface="Times New Roman"/>
            </a:endParaRPr>
          </a:p>
          <a:p>
            <a:pPr algn="l"/>
            <a:endParaRPr lang="en-US" sz="2000" b="1">
              <a:latin typeface="Times New Roman"/>
              <a:cs typeface="Times New Roman"/>
            </a:endParaRPr>
          </a:p>
          <a:p>
            <a:pPr marL="342900" indent="-342900" algn="l">
              <a:buFont typeface="Arial,Sans-Serif"/>
              <a:buChar char="•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Compiles Rust source → LLVM IR (preserves data-flow semantics)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Font typeface="Arial,Sans-Serif"/>
              <a:buChar char="•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Tokenizes IR using GraphCodeBERT's IR-aware tokenizer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Font typeface="Arial,Sans-Serif"/>
              <a:buChar char="•"/>
            </a:pPr>
            <a:r>
              <a:rPr lang="en-US" sz="160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Produces 768-dimensional semantic embeddings via mean pooling</a:t>
            </a:r>
            <a:endParaRPr lang="en-US" sz="1600" dirty="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342900" indent="-342900" algn="l">
              <a:buFont typeface="Arial,Sans-Serif"/>
              <a:buChar char="•"/>
            </a:pP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CatBoost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classifier with </a:t>
            </a:r>
            <a:r>
              <a:rPr lang="en-US" sz="160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StandardScaler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normalization (depth=6, L2=3)</a:t>
            </a:r>
          </a:p>
          <a:p>
            <a:pPr marL="342900" indent="-342900" algn="l">
              <a:buFont typeface="Arial,Sans-Serif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Threshold tuning on validation set (optimal @ 0.35) for F1 maximization</a:t>
            </a:r>
          </a:p>
          <a:p>
            <a:pPr marL="342900" indent="-342900" algn="l">
              <a:buFont typeface="Arial,Sans-Serif"/>
              <a:buChar char="•"/>
            </a:pPr>
            <a:r>
              <a:rPr lang="en-US" sz="1600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5-fold stratified CV: 0.982 ± 0.008 accuracy on 2,305 samples</a:t>
            </a:r>
          </a:p>
          <a:p>
            <a:pPr marL="342900" indent="-342900" algn="l">
              <a:buFont typeface="Arial,Sans-Serif"/>
              <a:buChar char="•"/>
            </a:pPr>
            <a:endParaRPr lang="en-US" sz="1600" dirty="0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  <a:p>
            <a:pPr algn="l"/>
            <a:endParaRPr lang="en-US" sz="1500">
              <a:latin typeface="Calibri"/>
              <a:ea typeface="Calibri"/>
              <a:cs typeface="Calibri"/>
            </a:endParaRPr>
          </a:p>
          <a:p>
            <a:pPr algn="l"/>
            <a:endParaRPr lang="en-GB"/>
          </a:p>
        </p:txBody>
      </p:sp>
      <p:pic>
        <p:nvPicPr>
          <p:cNvPr id="12" name="Picture 11" descr="A diagram of a computer code">
            <a:extLst>
              <a:ext uri="{FF2B5EF4-FFF2-40B4-BE49-F238E27FC236}">
                <a16:creationId xmlns:a16="http://schemas.microsoft.com/office/drawing/2014/main" id="{9EDF655A-6B75-77A6-6BEA-C2D3BB0B8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229" y="3719561"/>
            <a:ext cx="6048728" cy="262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051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A6B7F62-16E5-6487-17A7-9D68E84AB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2AB2386-EC23-9FF3-831E-F0C0C073971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8</a:t>
            </a:fld>
            <a:endParaRPr spc="-5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70F1F38-D74E-5FF4-4237-5C39FB7E70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512" y="505964"/>
            <a:ext cx="10932973" cy="88742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2800" spc="-10">
                <a:solidFill>
                  <a:srgbClr val="3E3E3E"/>
                </a:solidFill>
                <a:ea typeface="Calibri"/>
              </a:rPr>
              <a:t>BASE PAPER SUMMARY</a:t>
            </a:r>
          </a:p>
          <a:p>
            <a:pPr marL="137160">
              <a:spcBef>
                <a:spcPts val="100"/>
              </a:spcBef>
            </a:pPr>
            <a:endParaRPr lang="en-US" sz="2800" spc="-10">
              <a:solidFill>
                <a:srgbClr val="3E3E3E"/>
              </a:solidFill>
              <a:ea typeface="Calibri"/>
            </a:endParaRPr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75CFEE50-A076-ECC3-F64D-1A35B40175BD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384706A4-B2C8-1856-2779-14A7D004AB54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9BE0CBCB-126D-F5F5-415F-B8C97C2DE85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FBBDE1FF-A25E-C1CC-6BB1-638E35808F18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0E2D88C-B5CA-D186-DC01-B68EEDB76BB0}"/>
              </a:ext>
            </a:extLst>
          </p:cNvPr>
          <p:cNvSpPr txBox="1"/>
          <p:nvPr/>
        </p:nvSpPr>
        <p:spPr>
          <a:xfrm>
            <a:off x="630224" y="1432832"/>
            <a:ext cx="5836226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dirty="0">
                <a:solidFill>
                  <a:srgbClr val="000000"/>
                </a:solidFill>
                <a:latin typeface="Times New Roman"/>
                <a:cs typeface="Times New Roman"/>
              </a:rPr>
              <a:t>   </a:t>
            </a:r>
            <a:r>
              <a:rPr lang="en-US" sz="2000" b="1" dirty="0">
                <a:latin typeface="Times New Roman"/>
                <a:cs typeface="Times New Roman"/>
              </a:rPr>
              <a:t>Limitations of the Base Paper : </a:t>
            </a:r>
            <a:endParaRPr lang="en-US" b="1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algn="l">
              <a:buFont typeface="Arial"/>
              <a:buChar char="•"/>
            </a:pPr>
            <a:r>
              <a:rPr lang="en-US" sz="1600" dirty="0"/>
              <a:t>Heavy reliance on LLVM IR compilation, which adds preprocessing overhead and fails on non-</a:t>
            </a:r>
            <a:r>
              <a:rPr lang="en-US" sz="1600" err="1"/>
              <a:t>compilable</a:t>
            </a:r>
            <a:r>
              <a:rPr lang="en-US" sz="1600" dirty="0"/>
              <a:t> snippets without manual wrapping.</a:t>
            </a:r>
          </a:p>
          <a:p>
            <a:pPr marL="285750" indent="-285750" algn="l">
              <a:buFont typeface="Arial"/>
              <a:buChar char="•"/>
            </a:pPr>
            <a:r>
              <a:rPr lang="en-US" sz="1600" dirty="0"/>
              <a:t>Limited scope to binary classification (vulnerable vs. safe), ignoring nuanced severity levels or specific CVE types beyond recall.</a:t>
            </a:r>
          </a:p>
          <a:p>
            <a:pPr marL="285750" indent="-285750" algn="l">
              <a:buFont typeface="Arial"/>
              <a:buChar char="•"/>
            </a:pPr>
            <a:r>
              <a:rPr lang="en-US" sz="1600" dirty="0"/>
              <a:t>Dependency on </a:t>
            </a:r>
            <a:r>
              <a:rPr lang="en-US" sz="1600" err="1"/>
              <a:t>GraphCodeBERT's</a:t>
            </a:r>
            <a:r>
              <a:rPr lang="en-US" sz="1600" dirty="0"/>
              <a:t> fixed 768D embeddings, potentially underperforming on evolving Rust syntax or unsafe block variants.</a:t>
            </a:r>
          </a:p>
          <a:p>
            <a:pPr marL="285750" indent="-285750" algn="l">
              <a:buFont typeface="Arial"/>
              <a:buChar char="•"/>
            </a:pPr>
            <a:r>
              <a:rPr lang="en-US" sz="1600" dirty="0"/>
              <a:t>Higher computational cost for embedding extraction, making it less ideal for ultra-lightweight edge-device scanning.</a:t>
            </a:r>
          </a:p>
          <a:p>
            <a:pPr marL="285750" indent="-285750" algn="l">
              <a:buFont typeface="Arial"/>
              <a:buChar char="•"/>
            </a:pPr>
            <a:r>
              <a:rPr lang="en-US" sz="1600" dirty="0"/>
              <a:t>Dataset bias toward known advisories (</a:t>
            </a:r>
            <a:r>
              <a:rPr lang="en-US" sz="1600" err="1"/>
              <a:t>RustSec</a:t>
            </a:r>
            <a:r>
              <a:rPr lang="en-US" sz="1600" dirty="0"/>
              <a:t>/OSV), risking poorer generalization to zero-day or ecosystem-specific vulnerabilities in unseen crates.</a:t>
            </a:r>
          </a:p>
          <a:p>
            <a:pPr algn="ctr"/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54C0DB-5CB9-7572-5742-535A439EE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042" y="1712961"/>
            <a:ext cx="4619432" cy="40863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3EF60C-4307-1394-71F5-30B8A04CE223}"/>
              </a:ext>
            </a:extLst>
          </p:cNvPr>
          <p:cNvSpPr txBox="1"/>
          <p:nvPr/>
        </p:nvSpPr>
        <p:spPr>
          <a:xfrm>
            <a:off x="6934840" y="1309091"/>
            <a:ext cx="46129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 dirty="0">
                <a:latin typeface="Times New Roman"/>
                <a:cs typeface="Times New Roman"/>
              </a:rPr>
              <a:t>Execution(</a:t>
            </a:r>
            <a:r>
              <a:rPr lang="en-US" sz="2000" b="1" dirty="0" err="1">
                <a:latin typeface="Times New Roman"/>
                <a:cs typeface="Times New Roman"/>
              </a:rPr>
              <a:t>Colab</a:t>
            </a:r>
            <a:r>
              <a:rPr lang="en-US" sz="2000" b="1" dirty="0">
                <a:latin typeface="Times New Roman"/>
                <a:cs typeface="Times New Roman"/>
              </a:rPr>
              <a:t>) </a:t>
            </a:r>
            <a:r>
              <a:rPr lang="en-US" sz="2000" b="1">
                <a:latin typeface="Times New Roman"/>
                <a:cs typeface="Times New Roman"/>
              </a:rPr>
              <a:t>Metrics:</a:t>
            </a:r>
            <a:endParaRPr lang="en-US" sz="20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0603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18F709-3240-E97A-5EB3-BBC103AF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39AB45C9-2B89-5F8F-CF4E-EE2527188F5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9</a:t>
            </a:fld>
            <a:endParaRPr spc="-5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A7D93C7C-82F2-1315-2631-C46DCDF807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512" y="505964"/>
            <a:ext cx="10932973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37160" algn="l"/>
            <a:r>
              <a:rPr lang="en-US" sz="2800" spc="-10" dirty="0">
                <a:solidFill>
                  <a:srgbClr val="3E3E3E"/>
                </a:solidFill>
                <a:ea typeface="Calibri"/>
              </a:rPr>
              <a:t>PROJECT OVERVIEW — </a:t>
            </a:r>
            <a:r>
              <a:rPr lang="en-US" sz="2800" spc="-10" dirty="0" err="1">
                <a:solidFill>
                  <a:srgbClr val="3E3E3E"/>
                </a:solidFill>
                <a:ea typeface="Calibri"/>
              </a:rPr>
              <a:t>RustCPG</a:t>
            </a:r>
            <a:r>
              <a:rPr lang="en-US" sz="2800" spc="-10" dirty="0">
                <a:solidFill>
                  <a:srgbClr val="3E3E3E"/>
                </a:solidFill>
                <a:ea typeface="Calibri"/>
              </a:rPr>
              <a:t>-Detect</a:t>
            </a:r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D29C1657-7B75-06CE-3145-53D71685D332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36960562-0DDC-7A08-5C79-156D4FB2B8E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35A5974A-D378-3A3D-B109-96E634B0EE0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4D0F25C1-66F3-3CA9-82BE-EC19AEBEB03C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AFA94F1-C2A6-0A7D-0AC9-B3E1294360A0}"/>
              </a:ext>
            </a:extLst>
          </p:cNvPr>
          <p:cNvSpPr txBox="1"/>
          <p:nvPr/>
        </p:nvSpPr>
        <p:spPr>
          <a:xfrm>
            <a:off x="820472" y="1129217"/>
            <a:ext cx="1115857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RustCPG</a:t>
            </a:r>
            <a:r>
              <a:rPr lang="en-GB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-Detect extends the base paper pipeline by incorporating Code Property Graph (CPG) structural features </a:t>
            </a:r>
            <a:r>
              <a:rPr lang="en-GB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alongsideGraphCodeBERT</a:t>
            </a:r>
            <a:r>
              <a:rPr lang="en-GB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embeddings, performing rigorous GNN ablation studies, and extending the classification task to 5 fine-</a:t>
            </a:r>
            <a:r>
              <a:rPr lang="en-GB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grainedvulnerability</a:t>
            </a:r>
            <a:r>
              <a:rPr lang="en-GB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types via a hierarchical two-stage </a:t>
            </a:r>
            <a:r>
              <a:rPr lang="en-GB" dirty="0" err="1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CatBoost</a:t>
            </a:r>
            <a:r>
              <a:rPr lang="en-GB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</a:rPr>
              <a:t> approach.</a:t>
            </a:r>
            <a:endParaRPr lang="en-US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C410A4F0-15B9-1B04-BA85-FC04AF47B439}"/>
              </a:ext>
            </a:extLst>
          </p:cNvPr>
          <p:cNvSpPr/>
          <p:nvPr/>
        </p:nvSpPr>
        <p:spPr>
          <a:xfrm>
            <a:off x="347472" y="1746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783B3DA1-1633-5AC9-0B41-C7B159AD597A}"/>
              </a:ext>
            </a:extLst>
          </p:cNvPr>
          <p:cNvSpPr/>
          <p:nvPr/>
        </p:nvSpPr>
        <p:spPr>
          <a:xfrm>
            <a:off x="4828032" y="1746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b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04E4AF35-35C8-7124-51DE-19A881A4A18B}"/>
              </a:ext>
            </a:extLst>
          </p:cNvPr>
          <p:cNvSpPr/>
          <p:nvPr/>
        </p:nvSpPr>
        <p:spPr>
          <a:xfrm>
            <a:off x="243840" y="2255520"/>
            <a:ext cx="5669280" cy="1219200"/>
          </a:xfrm>
          <a:prstGeom prst="rect">
            <a:avLst/>
          </a:prstGeom>
          <a:solidFill>
            <a:schemeClr val="bg1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76302C79-618F-7EB1-8863-51DC5D02B7FB}"/>
              </a:ext>
            </a:extLst>
          </p:cNvPr>
          <p:cNvSpPr/>
          <p:nvPr/>
        </p:nvSpPr>
        <p:spPr>
          <a:xfrm>
            <a:off x="463296" y="2328672"/>
            <a:ext cx="524256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CPG Features</a:t>
            </a:r>
            <a:endParaRPr lang="en-US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A98185DE-EEDF-1302-867B-3734124FFA78}"/>
              </a:ext>
            </a:extLst>
          </p:cNvPr>
          <p:cNvSpPr/>
          <p:nvPr/>
        </p:nvSpPr>
        <p:spPr>
          <a:xfrm>
            <a:off x="463296" y="2718816"/>
            <a:ext cx="5242560" cy="6705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5A6A7E"/>
                </a:solidFill>
              </a:rPr>
              <a:t>Combined 768-dim BERT + 67-dim structural features = 5,093-dim CPG vector</a:t>
            </a:r>
            <a:endParaRPr lang="en-US" sz="1400" dirty="0"/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BE0707A7-17D7-4178-A119-9267B7EC54FA}"/>
              </a:ext>
            </a:extLst>
          </p:cNvPr>
          <p:cNvSpPr/>
          <p:nvPr/>
        </p:nvSpPr>
        <p:spPr>
          <a:xfrm>
            <a:off x="6217920" y="2255520"/>
            <a:ext cx="5669280" cy="1219200"/>
          </a:xfrm>
          <a:prstGeom prst="rect">
            <a:avLst/>
          </a:prstGeom>
          <a:solidFill>
            <a:schemeClr val="bg1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3E62E7CB-5DC4-9799-B8AF-388D8C7C6E0F}"/>
              </a:ext>
            </a:extLst>
          </p:cNvPr>
          <p:cNvSpPr/>
          <p:nvPr/>
        </p:nvSpPr>
        <p:spPr>
          <a:xfrm>
            <a:off x="6437376" y="2328672"/>
            <a:ext cx="524256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GNN Ablation</a:t>
            </a:r>
            <a:endParaRPr lang="en-US" sz="1600" dirty="0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BE3DC653-9D61-86E7-1A88-143E45B1174F}"/>
              </a:ext>
            </a:extLst>
          </p:cNvPr>
          <p:cNvSpPr/>
          <p:nvPr/>
        </p:nvSpPr>
        <p:spPr>
          <a:xfrm>
            <a:off x="6437376" y="2718816"/>
            <a:ext cx="5242560" cy="6705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5A6A7E"/>
                </a:solidFill>
              </a:rPr>
              <a:t>4 variants tested: Structural GCN, GCN+BERT, GCN+CPG, GAT+CPG</a:t>
            </a:r>
            <a:endParaRPr lang="en-US" sz="1400" dirty="0"/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1A3F7276-AB66-6B1A-04B7-83EB26D8EFC6}"/>
              </a:ext>
            </a:extLst>
          </p:cNvPr>
          <p:cNvSpPr/>
          <p:nvPr/>
        </p:nvSpPr>
        <p:spPr>
          <a:xfrm>
            <a:off x="243840" y="3621024"/>
            <a:ext cx="5669280" cy="1219200"/>
          </a:xfrm>
          <a:prstGeom prst="rect">
            <a:avLst/>
          </a:prstGeom>
          <a:solidFill>
            <a:schemeClr val="bg1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9A632964-3C49-309B-CDFE-A46898EC32AE}"/>
              </a:ext>
            </a:extLst>
          </p:cNvPr>
          <p:cNvSpPr/>
          <p:nvPr/>
        </p:nvSpPr>
        <p:spPr>
          <a:xfrm>
            <a:off x="463296" y="3694176"/>
            <a:ext cx="524256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5-Class Pipeline</a:t>
            </a:r>
            <a:endParaRPr lang="en-US" sz="1600" dirty="0"/>
          </a:p>
        </p:txBody>
      </p:sp>
      <p:sp>
        <p:nvSpPr>
          <p:cNvPr id="58" name="Text 18">
            <a:extLst>
              <a:ext uri="{FF2B5EF4-FFF2-40B4-BE49-F238E27FC236}">
                <a16:creationId xmlns:a16="http://schemas.microsoft.com/office/drawing/2014/main" id="{0FAB08D7-63D3-41DA-F397-68FF5B254F17}"/>
              </a:ext>
            </a:extLst>
          </p:cNvPr>
          <p:cNvSpPr/>
          <p:nvPr/>
        </p:nvSpPr>
        <p:spPr>
          <a:xfrm>
            <a:off x="463296" y="4084320"/>
            <a:ext cx="5242560" cy="6705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5A6A7E"/>
                </a:solidFill>
              </a:rPr>
              <a:t>Stage 1: Binary (Safe/Vuln) → Stage 2: 4-class type (UAF/DataRace/IntOvf/MemCorr)</a:t>
            </a:r>
            <a:endParaRPr lang="en-US" sz="1400" dirty="0"/>
          </a:p>
        </p:txBody>
      </p:sp>
      <p:sp>
        <p:nvSpPr>
          <p:cNvPr id="60" name="Shape 19">
            <a:extLst>
              <a:ext uri="{FF2B5EF4-FFF2-40B4-BE49-F238E27FC236}">
                <a16:creationId xmlns:a16="http://schemas.microsoft.com/office/drawing/2014/main" id="{3DEDB1C7-8C06-8F62-A32B-73CF59E1F5C8}"/>
              </a:ext>
            </a:extLst>
          </p:cNvPr>
          <p:cNvSpPr/>
          <p:nvPr/>
        </p:nvSpPr>
        <p:spPr>
          <a:xfrm>
            <a:off x="6217920" y="3621024"/>
            <a:ext cx="5669280" cy="1219200"/>
          </a:xfrm>
          <a:prstGeom prst="rect">
            <a:avLst/>
          </a:prstGeom>
          <a:solidFill>
            <a:schemeClr val="bg1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646211E6-B8B9-9BC5-0F56-03F041E64F9A}"/>
              </a:ext>
            </a:extLst>
          </p:cNvPr>
          <p:cNvSpPr/>
          <p:nvPr/>
        </p:nvSpPr>
        <p:spPr>
          <a:xfrm>
            <a:off x="6437376" y="3694176"/>
            <a:ext cx="524256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Larger Dataset</a:t>
            </a:r>
            <a:endParaRPr lang="en-US" sz="1600" dirty="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6B66CDBA-434F-7849-BFC9-C3BD2A2EBD86}"/>
              </a:ext>
            </a:extLst>
          </p:cNvPr>
          <p:cNvSpPr/>
          <p:nvPr/>
        </p:nvSpPr>
        <p:spPr>
          <a:xfrm>
            <a:off x="6437376" y="4084320"/>
            <a:ext cx="5242560" cy="6705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5A6A7E"/>
                </a:solidFill>
              </a:rPr>
              <a:t>32,510 balanced samples across 5 classes (6,502 each) vs base paper's 2,305</a:t>
            </a:r>
            <a:endParaRPr lang="en-US" sz="1400" dirty="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A47567F8-7717-88D2-B5A6-7641E06B2DB4}"/>
              </a:ext>
            </a:extLst>
          </p:cNvPr>
          <p:cNvSpPr/>
          <p:nvPr/>
        </p:nvSpPr>
        <p:spPr>
          <a:xfrm>
            <a:off x="243840" y="4986528"/>
            <a:ext cx="5669280" cy="1219200"/>
          </a:xfrm>
          <a:prstGeom prst="rect">
            <a:avLst/>
          </a:prstGeom>
          <a:solidFill>
            <a:schemeClr val="bg1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57D0BF2B-3987-66AC-38C0-EFB343D9F80B}"/>
              </a:ext>
            </a:extLst>
          </p:cNvPr>
          <p:cNvSpPr/>
          <p:nvPr/>
        </p:nvSpPr>
        <p:spPr>
          <a:xfrm>
            <a:off x="463296" y="5059680"/>
            <a:ext cx="524256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Threshold Tuning</a:t>
            </a:r>
            <a:endParaRPr lang="en-US" sz="1600" dirty="0"/>
          </a:p>
        </p:txBody>
      </p:sp>
      <p:sp>
        <p:nvSpPr>
          <p:cNvPr id="74" name="Text 26">
            <a:extLst>
              <a:ext uri="{FF2B5EF4-FFF2-40B4-BE49-F238E27FC236}">
                <a16:creationId xmlns:a16="http://schemas.microsoft.com/office/drawing/2014/main" id="{B6C9B604-AC39-841B-6724-F1C920788585}"/>
              </a:ext>
            </a:extLst>
          </p:cNvPr>
          <p:cNvSpPr/>
          <p:nvPr/>
        </p:nvSpPr>
        <p:spPr>
          <a:xfrm>
            <a:off x="463296" y="5449824"/>
            <a:ext cx="5242560" cy="6705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5A6A7E"/>
                </a:solidFill>
              </a:rPr>
              <a:t>Val-set F1 sweep [0.1–0.9] for optimal decision boundary; best @ 0.71</a:t>
            </a:r>
            <a:endParaRPr lang="en-US" sz="1400" dirty="0"/>
          </a:p>
        </p:txBody>
      </p:sp>
      <p:sp>
        <p:nvSpPr>
          <p:cNvPr id="76" name="Shape 27">
            <a:extLst>
              <a:ext uri="{FF2B5EF4-FFF2-40B4-BE49-F238E27FC236}">
                <a16:creationId xmlns:a16="http://schemas.microsoft.com/office/drawing/2014/main" id="{DB7A6922-6E90-617F-9422-4231E296DA32}"/>
              </a:ext>
            </a:extLst>
          </p:cNvPr>
          <p:cNvSpPr/>
          <p:nvPr/>
        </p:nvSpPr>
        <p:spPr>
          <a:xfrm>
            <a:off x="6217920" y="4986528"/>
            <a:ext cx="5669280" cy="1219200"/>
          </a:xfrm>
          <a:prstGeom prst="rect">
            <a:avLst/>
          </a:prstGeom>
          <a:solidFill>
            <a:schemeClr val="bg1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0" name="Text 29">
            <a:extLst>
              <a:ext uri="{FF2B5EF4-FFF2-40B4-BE49-F238E27FC236}">
                <a16:creationId xmlns:a16="http://schemas.microsoft.com/office/drawing/2014/main" id="{52A95BFE-4564-C331-FC00-052CE47B7178}"/>
              </a:ext>
            </a:extLst>
          </p:cNvPr>
          <p:cNvSpPr/>
          <p:nvPr/>
        </p:nvSpPr>
        <p:spPr>
          <a:xfrm>
            <a:off x="6437376" y="5059680"/>
            <a:ext cx="524256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3-Fold CV</a:t>
            </a:r>
            <a:endParaRPr lang="en-US" sz="1600" dirty="0"/>
          </a:p>
        </p:txBody>
      </p:sp>
      <p:sp>
        <p:nvSpPr>
          <p:cNvPr id="82" name="Text 30">
            <a:extLst>
              <a:ext uri="{FF2B5EF4-FFF2-40B4-BE49-F238E27FC236}">
                <a16:creationId xmlns:a16="http://schemas.microsoft.com/office/drawing/2014/main" id="{65D169DE-A700-1F0B-F0CC-82CBDC30E6EA}"/>
              </a:ext>
            </a:extLst>
          </p:cNvPr>
          <p:cNvSpPr/>
          <p:nvPr/>
        </p:nvSpPr>
        <p:spPr>
          <a:xfrm>
            <a:off x="6437376" y="5449824"/>
            <a:ext cx="5242560" cy="6705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5A6A7E"/>
                </a:solidFill>
              </a:rPr>
              <a:t>Robust evaluation: 92.47% ± 0.47% vs base paper's 98.2% ± 0.8%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1722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6CE2CF-96E0-9DAD-8C51-9292DB820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154D4AC-95F6-0C76-C6B4-CF5F7AC9F7F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10</a:t>
            </a:fld>
            <a:endParaRPr spc="-5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A2A4052C-822B-C62F-4B89-6735803A75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7020" y="505964"/>
            <a:ext cx="10932973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37160">
              <a:spcBef>
                <a:spcPts val="100"/>
              </a:spcBef>
            </a:pPr>
            <a:r>
              <a:rPr lang="en-US" sz="2800" spc="-10" dirty="0">
                <a:solidFill>
                  <a:srgbClr val="3E3E3E"/>
                </a:solidFill>
                <a:ea typeface="Calibri"/>
              </a:rPr>
              <a:t>SYSTEM ARCHITECTURE - Pipeline</a:t>
            </a:r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1C14AF7D-7B5D-AF0F-268E-EF08C52EA8EA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7F18248F-F8D3-3E89-E9A9-5B21A1B6EEB7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A126C6F6-CFD7-9288-8BDD-C765A2A0919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A12C7B8E-BEB1-F07C-6DC3-56D5459F400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AB9526F-9485-5BFD-3D3E-709CC2A5B327}"/>
                  </a:ext>
                </a:extLst>
              </p14:cNvPr>
              <p14:cNvContentPartPr/>
              <p14:nvPr/>
            </p14:nvContentPartPr>
            <p14:xfrm>
              <a:off x="-1608666" y="1777999"/>
              <a:ext cx="10583" cy="10583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AB9526F-9485-5BFD-3D3E-709CC2A5B3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137816" y="1248849"/>
                <a:ext cx="1058300" cy="10583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4F7BB1-CBC6-DE83-7CC1-5D755164FE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610256"/>
            <a:ext cx="12192000" cy="363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02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DB0D8D-27CA-ED4F-7622-027B7C4A1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9211CA2-F54E-020C-CB46-2C742B53503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11</a:t>
            </a:fld>
            <a:endParaRPr spc="-5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F85B22A2-DA83-4EAB-8C51-6CE5859F44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512" y="505964"/>
            <a:ext cx="10932973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37160">
              <a:spcBef>
                <a:spcPts val="100"/>
              </a:spcBef>
            </a:pPr>
            <a:r>
              <a:rPr lang="en-US" sz="2800" spc="-10">
                <a:ea typeface="Calibri"/>
              </a:rPr>
              <a:t>DATASET </a:t>
            </a:r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DEE2CA72-948A-F17F-2D50-A029B18D9CAC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6FF34891-3C9D-03EF-8DBF-3B1AEBF02AC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789ACF2E-C973-5C8F-234C-10A8E33E968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C6B2DEEF-49CE-EAFA-7CEF-2FDAC23FB2D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Shape 6">
            <a:extLst>
              <a:ext uri="{FF2B5EF4-FFF2-40B4-BE49-F238E27FC236}">
                <a16:creationId xmlns:a16="http://schemas.microsoft.com/office/drawing/2014/main" id="{0AA0CE23-4E8E-7778-A615-5BFEEDC35C94}"/>
              </a:ext>
            </a:extLst>
          </p:cNvPr>
          <p:cNvSpPr/>
          <p:nvPr/>
        </p:nvSpPr>
        <p:spPr>
          <a:xfrm>
            <a:off x="243840" y="1036320"/>
            <a:ext cx="2743200" cy="12801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303F1BE-AC4F-647D-1D0B-6545F95016C6}"/>
              </a:ext>
            </a:extLst>
          </p:cNvPr>
          <p:cNvSpPr/>
          <p:nvPr/>
        </p:nvSpPr>
        <p:spPr>
          <a:xfrm>
            <a:off x="243840" y="107289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/>
              <a:t>32,510</a:t>
            </a:r>
            <a:endParaRPr lang="en-US" sz="3733" dirty="0">
              <a:ea typeface="Calibri"/>
              <a:cs typeface="Calibri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FF909A82-E6FF-2D88-7F75-335B1C6B07FF}"/>
              </a:ext>
            </a:extLst>
          </p:cNvPr>
          <p:cNvSpPr/>
          <p:nvPr/>
        </p:nvSpPr>
        <p:spPr>
          <a:xfrm>
            <a:off x="243840" y="1828800"/>
            <a:ext cx="2743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dirty="0"/>
              <a:t>Total Samples</a:t>
            </a:r>
            <a:endParaRPr lang="en-US" sz="1267" dirty="0">
              <a:ea typeface="Calibri"/>
              <a:cs typeface="Calibri"/>
            </a:endParaRP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95DB6EC0-F827-AE4E-3DB7-224656DC9704}"/>
              </a:ext>
            </a:extLst>
          </p:cNvPr>
          <p:cNvSpPr/>
          <p:nvPr/>
        </p:nvSpPr>
        <p:spPr>
          <a:xfrm>
            <a:off x="3206496" y="1036320"/>
            <a:ext cx="2743200" cy="1280160"/>
          </a:xfrm>
          <a:prstGeom prst="rect">
            <a:avLst/>
          </a:prstGeom>
          <a:solidFill>
            <a:schemeClr val="bg1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CC292B86-4F1F-11E8-948C-D1F51BFD7D76}"/>
              </a:ext>
            </a:extLst>
          </p:cNvPr>
          <p:cNvSpPr/>
          <p:nvPr/>
        </p:nvSpPr>
        <p:spPr>
          <a:xfrm>
            <a:off x="3206496" y="107289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/>
              <a:t>6,502</a:t>
            </a:r>
            <a:endParaRPr lang="en-US" sz="3733" dirty="0">
              <a:ea typeface="Calibri"/>
              <a:cs typeface="Calibri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44F4A13D-DB33-EDBB-CC2C-439AEBBABF60}"/>
              </a:ext>
            </a:extLst>
          </p:cNvPr>
          <p:cNvSpPr/>
          <p:nvPr/>
        </p:nvSpPr>
        <p:spPr>
          <a:xfrm>
            <a:off x="3206496" y="1828800"/>
            <a:ext cx="2743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dirty="0"/>
              <a:t>Per Class (Balanced)</a:t>
            </a:r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0B2F6A1E-CEDF-B220-9957-F6E4269FCBE2}"/>
              </a:ext>
            </a:extLst>
          </p:cNvPr>
          <p:cNvSpPr/>
          <p:nvPr/>
        </p:nvSpPr>
        <p:spPr>
          <a:xfrm>
            <a:off x="6169152" y="1036320"/>
            <a:ext cx="2743200" cy="1280160"/>
          </a:xfrm>
          <a:prstGeom prst="rect">
            <a:avLst/>
          </a:prstGeom>
          <a:solidFill>
            <a:schemeClr val="bg1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53F808C7-DE23-231D-CFBE-DDE7AD0741EB}"/>
              </a:ext>
            </a:extLst>
          </p:cNvPr>
          <p:cNvSpPr/>
          <p:nvPr/>
        </p:nvSpPr>
        <p:spPr>
          <a:xfrm>
            <a:off x="6169152" y="107289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/>
              <a:t>5</a:t>
            </a:r>
            <a:endParaRPr lang="en-US" sz="3733" dirty="0">
              <a:ea typeface="Calibri"/>
              <a:cs typeface="Calibri"/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AB3979B1-ED7C-C119-2D5E-A83F342869B0}"/>
              </a:ext>
            </a:extLst>
          </p:cNvPr>
          <p:cNvSpPr/>
          <p:nvPr/>
        </p:nvSpPr>
        <p:spPr>
          <a:xfrm>
            <a:off x="6169152" y="1828800"/>
            <a:ext cx="2743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dirty="0"/>
              <a:t>Vulnerability Classes</a:t>
            </a:r>
            <a:endParaRPr lang="en-US" sz="1267" dirty="0">
              <a:ea typeface="Calibri"/>
              <a:cs typeface="Calibri"/>
            </a:endParaRPr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A25DE062-A1E7-7ECC-F9DF-BB0C6322BFEF}"/>
              </a:ext>
            </a:extLst>
          </p:cNvPr>
          <p:cNvSpPr/>
          <p:nvPr/>
        </p:nvSpPr>
        <p:spPr>
          <a:xfrm>
            <a:off x="9131808" y="1036320"/>
            <a:ext cx="2743200" cy="1280160"/>
          </a:xfrm>
          <a:prstGeom prst="rect">
            <a:avLst/>
          </a:prstGeom>
          <a:solidFill>
            <a:schemeClr val="bg1"/>
          </a:solidFill>
          <a:ln w="12700">
            <a:solidFill>
              <a:srgbClr val="1B3A6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76B1D53D-8E2F-CD33-A8F4-B3CCA1C385CD}"/>
              </a:ext>
            </a:extLst>
          </p:cNvPr>
          <p:cNvSpPr/>
          <p:nvPr/>
        </p:nvSpPr>
        <p:spPr>
          <a:xfrm>
            <a:off x="9131808" y="107289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733" b="1" dirty="0"/>
              <a:t>835</a:t>
            </a:r>
            <a:endParaRPr lang="en-US" sz="3733" dirty="0">
              <a:ea typeface="Calibri"/>
              <a:cs typeface="Calibri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7425E5A4-25DD-9416-D917-9AF7DA0F3265}"/>
              </a:ext>
            </a:extLst>
          </p:cNvPr>
          <p:cNvSpPr/>
          <p:nvPr/>
        </p:nvSpPr>
        <p:spPr>
          <a:xfrm>
            <a:off x="9131808" y="1828800"/>
            <a:ext cx="2743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dirty="0"/>
              <a:t>Node Feature Dims</a:t>
            </a:r>
            <a:endParaRPr lang="en-US" sz="1267" dirty="0"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267" dirty="0"/>
              <a:t>(768 BERT + 67 Struct)</a:t>
            </a:r>
            <a:endParaRPr lang="en-US" sz="1267" dirty="0">
              <a:ea typeface="Calibri"/>
              <a:cs typeface="Calibri"/>
            </a:endParaRPr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9616DCC4-C5A7-7991-7072-D89A5FF4B9BD}"/>
              </a:ext>
            </a:extLst>
          </p:cNvPr>
          <p:cNvSpPr/>
          <p:nvPr/>
        </p:nvSpPr>
        <p:spPr>
          <a:xfrm>
            <a:off x="306229" y="2459117"/>
            <a:ext cx="5486400" cy="3901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B3A6B"/>
                </a:solidFill>
              </a:rPr>
              <a:t>Class Distribution</a:t>
            </a:r>
            <a:endParaRPr lang="en-US" sz="1733"/>
          </a:p>
        </p:txBody>
      </p:sp>
      <p:graphicFrame>
        <p:nvGraphicFramePr>
          <p:cNvPr id="37" name="Table 0">
            <a:extLst>
              <a:ext uri="{FF2B5EF4-FFF2-40B4-BE49-F238E27FC236}">
                <a16:creationId xmlns:a16="http://schemas.microsoft.com/office/drawing/2014/main" id="{049C71B7-ACEB-2130-B21A-6819E17CF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331203"/>
              </p:ext>
            </p:extLst>
          </p:nvPr>
        </p:nvGraphicFramePr>
        <p:xfrm>
          <a:off x="243840" y="2850975"/>
          <a:ext cx="6096000" cy="336499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500" dirty="0">
                        <a:solidFill>
                          <a:srgbClr val="FFFFFF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sz="1500" dirty="0">
                        <a:solidFill>
                          <a:srgbClr val="FFFFFF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500" dirty="0">
                        <a:solidFill>
                          <a:srgbClr val="FFFFFF"/>
                        </a:solidFill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3A6B"/>
                          </a:solidFill>
                        </a:rPr>
                        <a:t>0 — Safe</a:t>
                      </a:r>
                      <a:endParaRPr lang="en-US" sz="15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3A6B"/>
                          </a:solidFill>
                        </a:rPr>
                        <a:t>No vulnerability</a:t>
                      </a:r>
                      <a:endParaRPr lang="en-US" sz="15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3A6B"/>
                          </a:solidFill>
                        </a:rPr>
                        <a:t>6,502</a:t>
                      </a:r>
                      <a:endParaRPr lang="en-US" sz="15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3A6B"/>
                          </a:solidFill>
                        </a:rPr>
                        <a:t>1 — UAF</a:t>
                      </a:r>
                      <a:endParaRPr lang="en-US" sz="15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3A6B"/>
                          </a:solidFill>
                        </a:rPr>
                        <a:t>Use-After-Free</a:t>
                      </a:r>
                      <a:endParaRPr lang="en-US" sz="15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3A6B"/>
                          </a:solidFill>
                        </a:rPr>
                        <a:t>6,502</a:t>
                      </a:r>
                      <a:endParaRPr lang="en-US" sz="15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3A6B"/>
                          </a:solidFill>
                        </a:rPr>
                        <a:t>2 — Data Race</a:t>
                      </a:r>
                      <a:endParaRPr lang="en-US" sz="15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3A6B"/>
                          </a:solidFill>
                        </a:rPr>
                        <a:t>Concurrent access violation</a:t>
                      </a:r>
                      <a:endParaRPr lang="en-US" sz="15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3A6B"/>
                          </a:solidFill>
                        </a:rPr>
                        <a:t>6,502</a:t>
                      </a:r>
                      <a:endParaRPr lang="en-US" sz="15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3A6B"/>
                          </a:solidFill>
                        </a:rPr>
                        <a:t>3 — Int Overflow</a:t>
                      </a:r>
                      <a:endParaRPr lang="en-US" sz="15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3A6B"/>
                          </a:solidFill>
                        </a:rPr>
                        <a:t>Integer overflow/underflow</a:t>
                      </a:r>
                      <a:endParaRPr lang="en-US" sz="15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3A6B"/>
                          </a:solidFill>
                        </a:rPr>
                        <a:t>6,502</a:t>
                      </a:r>
                      <a:endParaRPr lang="en-US" sz="15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3A6B"/>
                          </a:solidFill>
                        </a:rPr>
                        <a:t>4 — Mem Corrupt</a:t>
                      </a:r>
                      <a:endParaRPr lang="en-US" sz="15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B3A6B"/>
                          </a:solidFill>
                        </a:rPr>
                        <a:t>Memory corruption</a:t>
                      </a:r>
                      <a:endParaRPr lang="en-US" sz="15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3A6B"/>
                          </a:solidFill>
                        </a:rPr>
                        <a:t>6,502</a:t>
                      </a:r>
                      <a:endParaRPr lang="en-US" sz="1500" dirty="0"/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Shape 19">
            <a:extLst>
              <a:ext uri="{FF2B5EF4-FFF2-40B4-BE49-F238E27FC236}">
                <a16:creationId xmlns:a16="http://schemas.microsoft.com/office/drawing/2014/main" id="{16A137D2-B567-E882-4597-FC5E03AA720A}"/>
              </a:ext>
            </a:extLst>
          </p:cNvPr>
          <p:cNvSpPr/>
          <p:nvPr/>
        </p:nvSpPr>
        <p:spPr>
          <a:xfrm>
            <a:off x="6646069" y="2750819"/>
            <a:ext cx="5229225" cy="3469959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7E1F5FA8-4B42-F487-2C47-DEC361C2AFC1}"/>
              </a:ext>
            </a:extLst>
          </p:cNvPr>
          <p:cNvSpPr/>
          <p:nvPr/>
        </p:nvSpPr>
        <p:spPr>
          <a:xfrm>
            <a:off x="6827520" y="2657856"/>
            <a:ext cx="4937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>
                <a:solidFill>
                  <a:srgbClr val="1B3A6B"/>
                </a:solidFill>
              </a:rPr>
              <a:t>Train / Val / Test Splits</a:t>
            </a:r>
            <a:endParaRPr lang="en-US" sz="1733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D9033070-792D-6914-1CE4-D6637D1FF678}"/>
              </a:ext>
            </a:extLst>
          </p:cNvPr>
          <p:cNvSpPr/>
          <p:nvPr/>
        </p:nvSpPr>
        <p:spPr>
          <a:xfrm>
            <a:off x="6766560" y="3145536"/>
            <a:ext cx="4998720" cy="524256"/>
          </a:xfrm>
          <a:prstGeom prst="rect">
            <a:avLst/>
          </a:prstGeom>
          <a:solidFill>
            <a:schemeClr val="bg1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464E330C-0C37-752B-4F2D-08D26AD4F0AF}"/>
              </a:ext>
            </a:extLst>
          </p:cNvPr>
          <p:cNvSpPr/>
          <p:nvPr/>
        </p:nvSpPr>
        <p:spPr>
          <a:xfrm>
            <a:off x="6827520" y="320649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</a:rPr>
              <a:t>Split</a:t>
            </a:r>
            <a:endParaRPr lang="en-US" sz="14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994DE57C-9070-E89B-E640-1B4282422091}"/>
              </a:ext>
            </a:extLst>
          </p:cNvPr>
          <p:cNvSpPr/>
          <p:nvPr/>
        </p:nvSpPr>
        <p:spPr>
          <a:xfrm>
            <a:off x="8656320" y="3206496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/>
              <a:t>Binary</a:t>
            </a:r>
            <a:endParaRPr lang="en-US" sz="1333">
              <a:ea typeface="Calibri"/>
              <a:cs typeface="Calibri"/>
            </a:endParaRPr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727567EF-EAA9-661A-45BD-B27DF6EF8ABA}"/>
              </a:ext>
            </a:extLst>
          </p:cNvPr>
          <p:cNvSpPr/>
          <p:nvPr/>
        </p:nvSpPr>
        <p:spPr>
          <a:xfrm>
            <a:off x="10302240" y="320649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000000"/>
                </a:solidFill>
              </a:rPr>
              <a:t>5-Class</a:t>
            </a:r>
            <a:endParaRPr lang="en-US" sz="1333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1" name="Shape 25">
            <a:extLst>
              <a:ext uri="{FF2B5EF4-FFF2-40B4-BE49-F238E27FC236}">
                <a16:creationId xmlns:a16="http://schemas.microsoft.com/office/drawing/2014/main" id="{DF40D0D6-568F-5F23-62F3-F69DE0007F2F}"/>
              </a:ext>
            </a:extLst>
          </p:cNvPr>
          <p:cNvSpPr/>
          <p:nvPr/>
        </p:nvSpPr>
        <p:spPr>
          <a:xfrm>
            <a:off x="6766560" y="3718560"/>
            <a:ext cx="4998720" cy="524256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0DF524F7-A4B8-EF19-4ECE-054D0698DA3C}"/>
              </a:ext>
            </a:extLst>
          </p:cNvPr>
          <p:cNvSpPr/>
          <p:nvPr/>
        </p:nvSpPr>
        <p:spPr>
          <a:xfrm>
            <a:off x="6827520" y="37795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Train (70%)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E5B201AB-358E-86DB-B8F0-67C337C1A854}"/>
              </a:ext>
            </a:extLst>
          </p:cNvPr>
          <p:cNvSpPr/>
          <p:nvPr/>
        </p:nvSpPr>
        <p:spPr>
          <a:xfrm>
            <a:off x="8656320" y="37795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000000"/>
                </a:solidFill>
              </a:rPr>
              <a:t>22,757 × 5,093</a:t>
            </a:r>
          </a:p>
        </p:txBody>
      </p:sp>
      <p:sp>
        <p:nvSpPr>
          <p:cNvPr id="57" name="Text 28">
            <a:extLst>
              <a:ext uri="{FF2B5EF4-FFF2-40B4-BE49-F238E27FC236}">
                <a16:creationId xmlns:a16="http://schemas.microsoft.com/office/drawing/2014/main" id="{8C6E3BD4-03C8-A437-F968-C44B7C0B8293}"/>
              </a:ext>
            </a:extLst>
          </p:cNvPr>
          <p:cNvSpPr/>
          <p:nvPr/>
        </p:nvSpPr>
        <p:spPr>
          <a:xfrm>
            <a:off x="10302240" y="377952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000000"/>
                </a:solidFill>
              </a:rPr>
              <a:t>22,757 × 5,093</a:t>
            </a:r>
          </a:p>
        </p:txBody>
      </p:sp>
      <p:sp>
        <p:nvSpPr>
          <p:cNvPr id="59" name="Shape 29">
            <a:extLst>
              <a:ext uri="{FF2B5EF4-FFF2-40B4-BE49-F238E27FC236}">
                <a16:creationId xmlns:a16="http://schemas.microsoft.com/office/drawing/2014/main" id="{2023960A-C778-22D5-09A9-11EEB93E0123}"/>
              </a:ext>
            </a:extLst>
          </p:cNvPr>
          <p:cNvSpPr/>
          <p:nvPr/>
        </p:nvSpPr>
        <p:spPr>
          <a:xfrm>
            <a:off x="6766560" y="4291584"/>
            <a:ext cx="4998720" cy="52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A48B926E-1DCD-BD8B-B3DF-7F140C5E4825}"/>
              </a:ext>
            </a:extLst>
          </p:cNvPr>
          <p:cNvSpPr/>
          <p:nvPr/>
        </p:nvSpPr>
        <p:spPr>
          <a:xfrm>
            <a:off x="6827520" y="43525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</a:rPr>
              <a:t>Val (15%)</a:t>
            </a:r>
          </a:p>
        </p:txBody>
      </p:sp>
      <p:sp>
        <p:nvSpPr>
          <p:cNvPr id="63" name="Text 31">
            <a:extLst>
              <a:ext uri="{FF2B5EF4-FFF2-40B4-BE49-F238E27FC236}">
                <a16:creationId xmlns:a16="http://schemas.microsoft.com/office/drawing/2014/main" id="{22F075E4-EA61-9C4C-9915-D4382A7B07CD}"/>
              </a:ext>
            </a:extLst>
          </p:cNvPr>
          <p:cNvSpPr/>
          <p:nvPr/>
        </p:nvSpPr>
        <p:spPr>
          <a:xfrm>
            <a:off x="8656320" y="435254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000000"/>
                </a:solidFill>
              </a:rPr>
              <a:t>3,251 × 5,093</a:t>
            </a:r>
          </a:p>
        </p:txBody>
      </p:sp>
      <p:sp>
        <p:nvSpPr>
          <p:cNvPr id="65" name="Text 32">
            <a:extLst>
              <a:ext uri="{FF2B5EF4-FFF2-40B4-BE49-F238E27FC236}">
                <a16:creationId xmlns:a16="http://schemas.microsoft.com/office/drawing/2014/main" id="{D9DA09ED-A651-8831-74B1-F3F711E95A21}"/>
              </a:ext>
            </a:extLst>
          </p:cNvPr>
          <p:cNvSpPr/>
          <p:nvPr/>
        </p:nvSpPr>
        <p:spPr>
          <a:xfrm>
            <a:off x="10302240" y="435254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000000"/>
                </a:solidFill>
              </a:rPr>
              <a:t>3,251 × 5,093</a:t>
            </a:r>
          </a:p>
        </p:txBody>
      </p:sp>
      <p:sp>
        <p:nvSpPr>
          <p:cNvPr id="67" name="Shape 33">
            <a:extLst>
              <a:ext uri="{FF2B5EF4-FFF2-40B4-BE49-F238E27FC236}">
                <a16:creationId xmlns:a16="http://schemas.microsoft.com/office/drawing/2014/main" id="{A73DE4C0-EA69-F5A6-7374-E74D62B1FDC1}"/>
              </a:ext>
            </a:extLst>
          </p:cNvPr>
          <p:cNvSpPr/>
          <p:nvPr/>
        </p:nvSpPr>
        <p:spPr>
          <a:xfrm>
            <a:off x="6766560" y="4864608"/>
            <a:ext cx="4998720" cy="524256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34">
            <a:extLst>
              <a:ext uri="{FF2B5EF4-FFF2-40B4-BE49-F238E27FC236}">
                <a16:creationId xmlns:a16="http://schemas.microsoft.com/office/drawing/2014/main" id="{375BB734-C746-F9DE-0680-430257D3FE74}"/>
              </a:ext>
            </a:extLst>
          </p:cNvPr>
          <p:cNvSpPr/>
          <p:nvPr/>
        </p:nvSpPr>
        <p:spPr>
          <a:xfrm>
            <a:off x="6827520" y="492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</a:rPr>
              <a:t>Test (15%)</a:t>
            </a:r>
          </a:p>
        </p:txBody>
      </p:sp>
      <p:sp>
        <p:nvSpPr>
          <p:cNvPr id="71" name="Text 35">
            <a:extLst>
              <a:ext uri="{FF2B5EF4-FFF2-40B4-BE49-F238E27FC236}">
                <a16:creationId xmlns:a16="http://schemas.microsoft.com/office/drawing/2014/main" id="{6DBD0B5B-00EC-75D4-7D5E-DDF83AAC441B}"/>
              </a:ext>
            </a:extLst>
          </p:cNvPr>
          <p:cNvSpPr/>
          <p:nvPr/>
        </p:nvSpPr>
        <p:spPr>
          <a:xfrm>
            <a:off x="8656320" y="492556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000000"/>
                </a:solidFill>
              </a:rPr>
              <a:t>6,502 × 5,093</a:t>
            </a:r>
          </a:p>
        </p:txBody>
      </p:sp>
      <p:sp>
        <p:nvSpPr>
          <p:cNvPr id="73" name="Text 36">
            <a:extLst>
              <a:ext uri="{FF2B5EF4-FFF2-40B4-BE49-F238E27FC236}">
                <a16:creationId xmlns:a16="http://schemas.microsoft.com/office/drawing/2014/main" id="{DF141E94-14A3-1735-6FCC-9AA251279360}"/>
              </a:ext>
            </a:extLst>
          </p:cNvPr>
          <p:cNvSpPr/>
          <p:nvPr/>
        </p:nvSpPr>
        <p:spPr>
          <a:xfrm>
            <a:off x="10302240" y="492556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000000"/>
                </a:solidFill>
              </a:rPr>
              <a:t>6,502 × 5,093</a:t>
            </a:r>
          </a:p>
        </p:txBody>
      </p:sp>
      <p:sp>
        <p:nvSpPr>
          <p:cNvPr id="75" name="Shape 37">
            <a:extLst>
              <a:ext uri="{FF2B5EF4-FFF2-40B4-BE49-F238E27FC236}">
                <a16:creationId xmlns:a16="http://schemas.microsoft.com/office/drawing/2014/main" id="{61615FC5-E90E-B399-6A87-AED919413151}"/>
              </a:ext>
            </a:extLst>
          </p:cNvPr>
          <p:cNvSpPr/>
          <p:nvPr/>
        </p:nvSpPr>
        <p:spPr>
          <a:xfrm>
            <a:off x="6766560" y="5437632"/>
            <a:ext cx="4998720" cy="524256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38">
            <a:extLst>
              <a:ext uri="{FF2B5EF4-FFF2-40B4-BE49-F238E27FC236}">
                <a16:creationId xmlns:a16="http://schemas.microsoft.com/office/drawing/2014/main" id="{761B62B8-1FCA-BA86-CB65-DD89851CCF89}"/>
              </a:ext>
            </a:extLst>
          </p:cNvPr>
          <p:cNvSpPr/>
          <p:nvPr/>
        </p:nvSpPr>
        <p:spPr>
          <a:xfrm>
            <a:off x="6827520" y="549859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000000"/>
                </a:solidFill>
              </a:rPr>
              <a:t>Binary Dist.</a:t>
            </a:r>
          </a:p>
        </p:txBody>
      </p:sp>
      <p:sp>
        <p:nvSpPr>
          <p:cNvPr id="79" name="Text 39">
            <a:extLst>
              <a:ext uri="{FF2B5EF4-FFF2-40B4-BE49-F238E27FC236}">
                <a16:creationId xmlns:a16="http://schemas.microsoft.com/office/drawing/2014/main" id="{4783C53F-DA26-0F95-E6A1-470793E006CF}"/>
              </a:ext>
            </a:extLst>
          </p:cNvPr>
          <p:cNvSpPr/>
          <p:nvPr/>
        </p:nvSpPr>
        <p:spPr>
          <a:xfrm>
            <a:off x="8656320" y="549859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000000"/>
                </a:solidFill>
              </a:rPr>
              <a:t>Safe: 6,502 | Vuln: 26,008</a:t>
            </a:r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C42A577E-0E56-C88C-5303-90A1393222E3}"/>
              </a:ext>
            </a:extLst>
          </p:cNvPr>
          <p:cNvSpPr/>
          <p:nvPr/>
        </p:nvSpPr>
        <p:spPr>
          <a:xfrm>
            <a:off x="10302240" y="5498592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>
                <a:solidFill>
                  <a:srgbClr val="000000"/>
                </a:solidFill>
              </a:rPr>
              <a:t>—</a:t>
            </a:r>
          </a:p>
        </p:txBody>
      </p:sp>
    </p:spTree>
    <p:extLst>
      <p:ext uri="{BB962C8B-B14F-4D97-AF65-F5344CB8AC3E}">
        <p14:creationId xmlns:p14="http://schemas.microsoft.com/office/powerpoint/2010/main" val="50203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2103C9-0526-5CAD-1870-98F7829B6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C328F8A-CB14-008E-F7A4-D0D8B433A92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12</a:t>
            </a:fld>
            <a:endParaRPr spc="-5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D8487AE7-AE24-14B0-D325-894808609C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512" y="505964"/>
            <a:ext cx="10932973" cy="4591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37160">
              <a:spcBef>
                <a:spcPts val="100"/>
              </a:spcBef>
            </a:pPr>
            <a:r>
              <a:rPr lang="en-US" sz="2800" spc="-10">
                <a:solidFill>
                  <a:srgbClr val="3E3E3E"/>
                </a:solidFill>
                <a:ea typeface="Calibri"/>
              </a:rPr>
              <a:t>GNN ABLATION STUDY — 4 Variants (Binary Classification)</a:t>
            </a:r>
            <a:endParaRPr lang="en-US"/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7784BB3D-ECBF-4931-F10B-C8EE30083493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74A9A594-B3CB-D2F9-F2EB-7E139604E9AF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9CEE0CC8-460F-1DAE-AC08-3F52A02EB846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0B743100-E9D3-0CD8-1FE4-1CA8243557F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10" name="Chart 0">
            <a:extLst>
              <a:ext uri="{FF2B5EF4-FFF2-40B4-BE49-F238E27FC236}">
                <a16:creationId xmlns:a16="http://schemas.microsoft.com/office/drawing/2014/main" id="{9ADD4065-1633-AF1A-02C6-50F1DAFE4DD1}"/>
              </a:ext>
            </a:extLst>
          </p:cNvPr>
          <p:cNvGraphicFramePr/>
          <p:nvPr/>
        </p:nvGraphicFramePr>
        <p:xfrm>
          <a:off x="243840" y="1767840"/>
          <a:ext cx="6705600" cy="4450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1262BA49-8AA2-28B4-C969-91913F68C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8278143"/>
              </p:ext>
            </p:extLst>
          </p:nvPr>
        </p:nvGraphicFramePr>
        <p:xfrm>
          <a:off x="7193280" y="1767840"/>
          <a:ext cx="4897008" cy="3100653"/>
        </p:xfrm>
        <a:graphic>
          <a:graphicData uri="http://schemas.openxmlformats.org/drawingml/2006/table">
            <a:tbl>
              <a:tblPr/>
              <a:tblGrid>
                <a:gridCol w="57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33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17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7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Variant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Architecture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Acc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Macro F1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Params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Structural GCN (66-dim)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89.85%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0.8319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8,706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GCN + BERT (835-dim)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91.88%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0.8673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264,450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C ✓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GCN + full CPG (835-dim)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2863A"/>
                          </a:solidFill>
                          <a:latin typeface="Times New Roman"/>
                          <a:cs typeface="Times New Roman"/>
                        </a:rPr>
                        <a:t>91.94%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2863A"/>
                          </a:solidFill>
                          <a:latin typeface="Times New Roman"/>
                          <a:cs typeface="Times New Roman"/>
                        </a:rPr>
                        <a:t>0.8691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264,450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0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GAT + full CPG (835-dim)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90.71%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0.8398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1B3A6B"/>
                          </a:solidFill>
                          <a:latin typeface="Times New Roman"/>
                          <a:cs typeface="Times New Roman"/>
                        </a:rPr>
                        <a:t>574,530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7">
            <a:extLst>
              <a:ext uri="{FF2B5EF4-FFF2-40B4-BE49-F238E27FC236}">
                <a16:creationId xmlns:a16="http://schemas.microsoft.com/office/drawing/2014/main" id="{21C49674-F2DF-98E0-DB37-6108983700B3}"/>
              </a:ext>
            </a:extLst>
          </p:cNvPr>
          <p:cNvSpPr/>
          <p:nvPr/>
        </p:nvSpPr>
        <p:spPr>
          <a:xfrm>
            <a:off x="7193280" y="4974336"/>
            <a:ext cx="4693920" cy="1158240"/>
          </a:xfrm>
          <a:prstGeom prst="rect">
            <a:avLst/>
          </a:prstGeom>
          <a:solidFill>
            <a:srgbClr val="EBF3FB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7A346907-1814-FFB1-162B-D39C1A32805D}"/>
              </a:ext>
            </a:extLst>
          </p:cNvPr>
          <p:cNvSpPr/>
          <p:nvPr/>
        </p:nvSpPr>
        <p:spPr>
          <a:xfrm>
            <a:off x="7193280" y="4974336"/>
            <a:ext cx="85344" cy="1158240"/>
          </a:xfrm>
          <a:prstGeom prst="rect">
            <a:avLst/>
          </a:prstGeom>
          <a:solidFill>
            <a:srgbClr val="22863A"/>
          </a:solidFill>
          <a:ln w="12700">
            <a:solidFill>
              <a:srgbClr val="228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8D8F8E2C-89F6-E105-D341-8261FE7A3E39}"/>
              </a:ext>
            </a:extLst>
          </p:cNvPr>
          <p:cNvSpPr/>
          <p:nvPr/>
        </p:nvSpPr>
        <p:spPr>
          <a:xfrm>
            <a:off x="7412736" y="5023104"/>
            <a:ext cx="4389120" cy="1072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>
                <a:solidFill>
                  <a:srgbClr val="1B3A6B"/>
                </a:solidFill>
                <a:latin typeface="Times New Roman"/>
                <a:cs typeface="Times New Roman"/>
              </a:rPr>
              <a:t>Finding: Variant C (GCN + CPG) achieves best accuracy (91.94%) with moderate parameters. GAT (Variant D) adds complexity without improvement — GCN is sufficient for this task.</a:t>
            </a:r>
            <a:endParaRPr lang="en-US" sz="13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29722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26720" y="0"/>
            <a:ext cx="1072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900" b="1"/>
              <a:t> </a:t>
            </a:r>
            <a:r>
              <a:rPr lang="en-US" sz="2900" b="1" dirty="0"/>
              <a:t>COMPLETE RESULTS — </a:t>
            </a:r>
            <a:r>
              <a:rPr lang="en-US" sz="2900" b="1" err="1"/>
              <a:t>RustCPG</a:t>
            </a:r>
            <a:r>
              <a:rPr lang="en-US" sz="2900" b="1"/>
              <a:t>-Detect </a:t>
            </a:r>
            <a:endParaRPr lang="en-US" sz="2900"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338560" y="0"/>
            <a:ext cx="7924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733">
                <a:solidFill>
                  <a:srgbClr val="A8C8EF"/>
                </a:solidFill>
              </a:rPr>
              <a:t>15</a:t>
            </a:r>
            <a:endParaRPr lang="en-US" sz="1733"/>
          </a:p>
        </p:txBody>
      </p:sp>
      <p:sp>
        <p:nvSpPr>
          <p:cNvPr id="7" name="Text 5"/>
          <p:cNvSpPr/>
          <p:nvPr/>
        </p:nvSpPr>
        <p:spPr>
          <a:xfrm>
            <a:off x="243840" y="6583680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050">
              <a:solidFill>
                <a:srgbClr val="5A6A7E"/>
              </a:solidFill>
              <a:ea typeface="Calibri"/>
              <a:cs typeface="Calibri"/>
            </a:endParaRPr>
          </a:p>
        </p:txBody>
      </p:sp>
      <p:grpSp>
        <p:nvGrpSpPr>
          <p:cNvPr id="13" name="Google Shape;91;p1">
            <a:extLst>
              <a:ext uri="{FF2B5EF4-FFF2-40B4-BE49-F238E27FC236}">
                <a16:creationId xmlns:a16="http://schemas.microsoft.com/office/drawing/2014/main" id="{B695E460-EEF3-7C48-9D27-F9F8CE66ED2B}"/>
              </a:ext>
            </a:extLst>
          </p:cNvPr>
          <p:cNvGrpSpPr/>
          <p:nvPr/>
        </p:nvGrpSpPr>
        <p:grpSpPr>
          <a:xfrm>
            <a:off x="0" y="6332861"/>
            <a:ext cx="12191999" cy="515111"/>
            <a:chOff x="0" y="6342887"/>
            <a:chExt cx="12191999" cy="515111"/>
          </a:xfrm>
        </p:grpSpPr>
        <p:pic>
          <p:nvPicPr>
            <p:cNvPr id="10" name="Google Shape;92;p1">
              <a:extLst>
                <a:ext uri="{FF2B5EF4-FFF2-40B4-BE49-F238E27FC236}">
                  <a16:creationId xmlns:a16="http://schemas.microsoft.com/office/drawing/2014/main" id="{C62A8607-E8C7-F661-491B-620F1F7A02B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93;p1">
              <a:extLst>
                <a:ext uri="{FF2B5EF4-FFF2-40B4-BE49-F238E27FC236}">
                  <a16:creationId xmlns:a16="http://schemas.microsoft.com/office/drawing/2014/main" id="{00B16161-CF47-1927-B845-2184EB907000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94;p1">
              <a:extLst>
                <a:ext uri="{FF2B5EF4-FFF2-40B4-BE49-F238E27FC236}">
                  <a16:creationId xmlns:a16="http://schemas.microsoft.com/office/drawing/2014/main" id="{4C8F205D-920E-10FF-07CA-44B489E6478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6BE456-2DE4-86E2-5B0C-0E3DA57750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683" y="729802"/>
            <a:ext cx="5345311" cy="5591578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9C5511-A5B1-F059-E189-12E9FC12C6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89" y="875897"/>
            <a:ext cx="5125256" cy="3431953"/>
          </a:xfrm>
          <a:prstGeom prst="rect">
            <a:avLst/>
          </a:prstGeom>
        </p:spPr>
      </p:pic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D361BC-4208-EF84-E9C6-61D22C8E5B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6775" y="4289538"/>
            <a:ext cx="3525859" cy="1895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DDAE0F-6B09-38B4-A9F7-E0522E51A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2A3EBDBD-2A16-6C71-AE12-81FBF6E0C38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lang="en-US" spc="-50" dirty="0"/>
              <a:t>14</a:t>
            </a:fld>
            <a:endParaRPr lang="en-US" spc="-5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89D54B10-C3BB-0407-B4AF-DF4B4AD62B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4835" y="505964"/>
            <a:ext cx="10932973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37160">
              <a:spcBef>
                <a:spcPts val="100"/>
              </a:spcBef>
            </a:pPr>
            <a:r>
              <a:rPr lang="en-US" sz="2800" spc="-10">
                <a:solidFill>
                  <a:srgbClr val="3E3E3E"/>
                </a:solidFill>
                <a:ea typeface="Calibri"/>
              </a:rPr>
              <a:t>NOVELTY</a:t>
            </a:r>
            <a:endParaRPr lang="en-US"/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21EDC83C-C2F0-C902-09F5-E11619192285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BEB331CC-6ACD-D65E-AC2D-74536363774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6156545B-FAF6-F29E-6CA4-BE1AF82FC701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6D5FE6A3-434D-8AE0-F83E-8B4729BB68CE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Shape 6">
            <a:extLst>
              <a:ext uri="{FF2B5EF4-FFF2-40B4-BE49-F238E27FC236}">
                <a16:creationId xmlns:a16="http://schemas.microsoft.com/office/drawing/2014/main" id="{5D7AFF99-C168-A8C9-F23E-DC53ADFE9790}"/>
              </a:ext>
            </a:extLst>
          </p:cNvPr>
          <p:cNvSpPr/>
          <p:nvPr/>
        </p:nvSpPr>
        <p:spPr>
          <a:xfrm>
            <a:off x="374041" y="1295452"/>
            <a:ext cx="480812" cy="4597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02419878-BBF2-8786-989B-0776DBFD0265}"/>
              </a:ext>
            </a:extLst>
          </p:cNvPr>
          <p:cNvSpPr/>
          <p:nvPr/>
        </p:nvSpPr>
        <p:spPr>
          <a:xfrm>
            <a:off x="376188" y="1298304"/>
            <a:ext cx="470079" cy="49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</a:rPr>
              <a:t>1</a:t>
            </a:r>
            <a:endParaRPr lang="en-US" sz="240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B1B0FD9D-9F02-F61E-E34A-5B19DE4A8EFA}"/>
              </a:ext>
            </a:extLst>
          </p:cNvPr>
          <p:cNvSpPr/>
          <p:nvPr/>
        </p:nvSpPr>
        <p:spPr>
          <a:xfrm>
            <a:off x="1036320" y="1097280"/>
            <a:ext cx="1085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b="1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600" b="1">
                <a:latin typeface="Times New Roman"/>
                <a:cs typeface="Times New Roman"/>
              </a:rPr>
              <a:t>CPG-Enhanced Feature Space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D7A40E13-0147-21EF-0263-A36615B1C3C3}"/>
              </a:ext>
            </a:extLst>
          </p:cNvPr>
          <p:cNvSpPr/>
          <p:nvPr/>
        </p:nvSpPr>
        <p:spPr>
          <a:xfrm>
            <a:off x="1036320" y="1438656"/>
            <a:ext cx="108508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latin typeface="Times New Roman"/>
                <a:cs typeface="Times New Roman"/>
              </a:rPr>
              <a:t>Extended GraphCodeBERT's 768-dim embeddings with 67 structural node features, creating a 5,093-dim CPG vector. This captures both semantic and structural properties of LLVM IR — a first for Rust vulnerability detection.</a:t>
            </a: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81C1D437-C59B-E254-935F-495191445EA1}"/>
              </a:ext>
            </a:extLst>
          </p:cNvPr>
          <p:cNvSpPr/>
          <p:nvPr/>
        </p:nvSpPr>
        <p:spPr>
          <a:xfrm>
            <a:off x="396240" y="2286000"/>
            <a:ext cx="6096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1F73E26A-F2F7-5721-FA97-DC61813272E3}"/>
              </a:ext>
            </a:extLst>
          </p:cNvPr>
          <p:cNvSpPr/>
          <p:nvPr/>
        </p:nvSpPr>
        <p:spPr>
          <a:xfrm>
            <a:off x="1036320" y="2157984"/>
            <a:ext cx="1085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b="1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600" b="1">
                <a:latin typeface="Times New Roman"/>
                <a:cs typeface="Times New Roman"/>
              </a:rPr>
              <a:t>Systematic GNN Ablation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22CEAD87-381D-B7D8-93FA-F7FD24981309}"/>
              </a:ext>
            </a:extLst>
          </p:cNvPr>
          <p:cNvSpPr/>
          <p:nvPr/>
        </p:nvSpPr>
        <p:spPr>
          <a:xfrm>
            <a:off x="1036320" y="2499360"/>
            <a:ext cx="108508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latin typeface="Times New Roman"/>
                <a:cs typeface="Times New Roman"/>
              </a:rPr>
              <a:t>First study to ablate GCN vs GAT architectures on Code Property Graphs for Rust, isolating the contribution of structural vs semantic features. Demonstrates that GCN+CPG (Variant C) is the optimal choice.</a:t>
            </a:r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AFDF995D-9170-8A3B-274E-122E8157109A}"/>
              </a:ext>
            </a:extLst>
          </p:cNvPr>
          <p:cNvSpPr/>
          <p:nvPr/>
        </p:nvSpPr>
        <p:spPr>
          <a:xfrm>
            <a:off x="396240" y="3346704"/>
            <a:ext cx="6096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A19A0DE8-984D-7A04-7667-95CC951A313A}"/>
              </a:ext>
            </a:extLst>
          </p:cNvPr>
          <p:cNvSpPr/>
          <p:nvPr/>
        </p:nvSpPr>
        <p:spPr>
          <a:xfrm>
            <a:off x="1036320" y="3218688"/>
            <a:ext cx="1085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b="1"/>
          </a:p>
          <a:p>
            <a:pPr marL="0" indent="0">
              <a:buNone/>
            </a:pPr>
            <a:r>
              <a:rPr lang="en-US" sz="1600" b="1"/>
              <a:t>5-Class Hierarchical </a:t>
            </a:r>
            <a:r>
              <a:rPr lang="en-US" sz="1600" b="1">
                <a:latin typeface="Times New Roman"/>
                <a:cs typeface="Times New Roman"/>
              </a:rPr>
              <a:t>Pipeline</a:t>
            </a:r>
            <a:endParaRPr lang="en-US" sz="1600">
              <a:latin typeface="Times New Roman"/>
              <a:cs typeface="Times New Roman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6B19D886-8E29-E577-D4B0-99EC04140601}"/>
              </a:ext>
            </a:extLst>
          </p:cNvPr>
          <p:cNvSpPr/>
          <p:nvPr/>
        </p:nvSpPr>
        <p:spPr>
          <a:xfrm>
            <a:off x="1036320" y="3560064"/>
            <a:ext cx="108508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latin typeface="Times New Roman"/>
                <a:cs typeface="Times New Roman"/>
              </a:rPr>
              <a:t>Introduced fine-grained vulnerability type classification (UAF, Data Race, Integer Overflow, Memory Corruption) via a novel 2-stage CatBoost pipeline — no prior Rust work attempts this.</a:t>
            </a:r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DEFB3FF6-52EB-FDF8-A3D2-A03D3124F943}"/>
              </a:ext>
            </a:extLst>
          </p:cNvPr>
          <p:cNvSpPr/>
          <p:nvPr/>
        </p:nvSpPr>
        <p:spPr>
          <a:xfrm>
            <a:off x="1036320" y="4279392"/>
            <a:ext cx="1085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b="1"/>
          </a:p>
          <a:p>
            <a:pPr marL="0" indent="0">
              <a:buNone/>
            </a:pPr>
            <a:r>
              <a:rPr lang="en-US" sz="1600" b="1"/>
              <a:t>Larger Balanced </a:t>
            </a:r>
            <a:r>
              <a:rPr lang="en-US" sz="1600" b="1">
                <a:latin typeface="Times New Roman"/>
                <a:cs typeface="Times New Roman"/>
              </a:rPr>
              <a:t>Dataset</a:t>
            </a:r>
            <a:endParaRPr lang="en-US" sz="16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37456C3D-02E8-D7B9-FDC5-F5EC6CB76EDE}"/>
              </a:ext>
            </a:extLst>
          </p:cNvPr>
          <p:cNvSpPr/>
          <p:nvPr/>
        </p:nvSpPr>
        <p:spPr>
          <a:xfrm>
            <a:off x="1036320" y="4620768"/>
            <a:ext cx="108508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latin typeface="Times New Roman"/>
                <a:cs typeface="Times New Roman"/>
              </a:rPr>
              <a:t>Used 32,510 perfectly balanced samples (6,502/class) vs base paper's 2,305 — creating a significantly harder and more realistic evaluation benchmark.</a:t>
            </a:r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DCFE2B12-FA2A-01FD-F819-34ABC6381293}"/>
              </a:ext>
            </a:extLst>
          </p:cNvPr>
          <p:cNvSpPr/>
          <p:nvPr/>
        </p:nvSpPr>
        <p:spPr>
          <a:xfrm>
            <a:off x="396240" y="5468112"/>
            <a:ext cx="6096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4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58D99642-4DC1-DB0F-488F-8AF80346F105}"/>
              </a:ext>
            </a:extLst>
          </p:cNvPr>
          <p:cNvSpPr/>
          <p:nvPr/>
        </p:nvSpPr>
        <p:spPr>
          <a:xfrm>
            <a:off x="1036320" y="5340096"/>
            <a:ext cx="108508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b="1"/>
          </a:p>
          <a:p>
            <a:pPr marL="0" indent="0">
              <a:buNone/>
            </a:pPr>
            <a:r>
              <a:rPr lang="en-US" sz="1600" b="1"/>
              <a:t>Threshold </a:t>
            </a:r>
            <a:r>
              <a:rPr lang="en-US" sz="1600" b="1">
                <a:latin typeface="Times New Roman"/>
                <a:cs typeface="Times New Roman"/>
              </a:rPr>
              <a:t>Optimization</a:t>
            </a:r>
            <a:r>
              <a:rPr lang="en-US" sz="1600" b="1"/>
              <a:t> Extension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812DD3B8-9ECE-A472-E2B5-962BC049EF44}"/>
              </a:ext>
            </a:extLst>
          </p:cNvPr>
          <p:cNvSpPr/>
          <p:nvPr/>
        </p:nvSpPr>
        <p:spPr>
          <a:xfrm>
            <a:off x="1036320" y="5681472"/>
            <a:ext cx="1085088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/>
              <a:t>Applied the base paper's threshold tuning method (F1-sweep 0.1–0.9) across CPG features and demonstrated it generalizes beyond BERT-only embeddings, achieving optimal threshold of 0.71.</a:t>
            </a:r>
          </a:p>
        </p:txBody>
      </p:sp>
      <p:sp>
        <p:nvSpPr>
          <p:cNvPr id="57" name="Shape 6">
            <a:extLst>
              <a:ext uri="{FF2B5EF4-FFF2-40B4-BE49-F238E27FC236}">
                <a16:creationId xmlns:a16="http://schemas.microsoft.com/office/drawing/2014/main" id="{50F05422-4118-52FC-A536-509601EF1285}"/>
              </a:ext>
            </a:extLst>
          </p:cNvPr>
          <p:cNvSpPr/>
          <p:nvPr/>
        </p:nvSpPr>
        <p:spPr>
          <a:xfrm>
            <a:off x="384067" y="2358240"/>
            <a:ext cx="480812" cy="4597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6">
            <a:extLst>
              <a:ext uri="{FF2B5EF4-FFF2-40B4-BE49-F238E27FC236}">
                <a16:creationId xmlns:a16="http://schemas.microsoft.com/office/drawing/2014/main" id="{26464B33-C596-BB50-C86D-199538F29055}"/>
              </a:ext>
            </a:extLst>
          </p:cNvPr>
          <p:cNvSpPr/>
          <p:nvPr/>
        </p:nvSpPr>
        <p:spPr>
          <a:xfrm>
            <a:off x="394094" y="3350847"/>
            <a:ext cx="480812" cy="4597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6">
            <a:extLst>
              <a:ext uri="{FF2B5EF4-FFF2-40B4-BE49-F238E27FC236}">
                <a16:creationId xmlns:a16="http://schemas.microsoft.com/office/drawing/2014/main" id="{A6495225-3FB1-368C-4527-8D820DB9E87E}"/>
              </a:ext>
            </a:extLst>
          </p:cNvPr>
          <p:cNvSpPr/>
          <p:nvPr/>
        </p:nvSpPr>
        <p:spPr>
          <a:xfrm>
            <a:off x="384067" y="4453741"/>
            <a:ext cx="480812" cy="4597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6">
            <a:extLst>
              <a:ext uri="{FF2B5EF4-FFF2-40B4-BE49-F238E27FC236}">
                <a16:creationId xmlns:a16="http://schemas.microsoft.com/office/drawing/2014/main" id="{59809A84-C107-D020-29E2-C039CB4739CA}"/>
              </a:ext>
            </a:extLst>
          </p:cNvPr>
          <p:cNvSpPr/>
          <p:nvPr/>
        </p:nvSpPr>
        <p:spPr>
          <a:xfrm>
            <a:off x="374041" y="5536583"/>
            <a:ext cx="480812" cy="45977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7">
            <a:extLst>
              <a:ext uri="{FF2B5EF4-FFF2-40B4-BE49-F238E27FC236}">
                <a16:creationId xmlns:a16="http://schemas.microsoft.com/office/drawing/2014/main" id="{A8E4619E-154C-F902-F2A1-C5A23C2EE3D7}"/>
              </a:ext>
            </a:extLst>
          </p:cNvPr>
          <p:cNvSpPr/>
          <p:nvPr/>
        </p:nvSpPr>
        <p:spPr>
          <a:xfrm>
            <a:off x="386213" y="5539435"/>
            <a:ext cx="470079" cy="49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5</a:t>
            </a:r>
            <a:endParaRPr lang="en-US" sz="24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63" name="Text 7">
            <a:extLst>
              <a:ext uri="{FF2B5EF4-FFF2-40B4-BE49-F238E27FC236}">
                <a16:creationId xmlns:a16="http://schemas.microsoft.com/office/drawing/2014/main" id="{12299331-10E8-C2A8-ABEB-610A1AAB8BC2}"/>
              </a:ext>
            </a:extLst>
          </p:cNvPr>
          <p:cNvSpPr/>
          <p:nvPr/>
        </p:nvSpPr>
        <p:spPr>
          <a:xfrm>
            <a:off x="396241" y="3333646"/>
            <a:ext cx="470079" cy="49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ea typeface="Calibri"/>
                <a:cs typeface="Calibri"/>
              </a:rPr>
              <a:t>3</a:t>
            </a:r>
            <a:endParaRPr lang="en-US" sz="24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64" name="Text 7">
            <a:extLst>
              <a:ext uri="{FF2B5EF4-FFF2-40B4-BE49-F238E27FC236}">
                <a16:creationId xmlns:a16="http://schemas.microsoft.com/office/drawing/2014/main" id="{AB64702A-B65B-D7A7-FA1A-01007C4BC75E}"/>
              </a:ext>
            </a:extLst>
          </p:cNvPr>
          <p:cNvSpPr/>
          <p:nvPr/>
        </p:nvSpPr>
        <p:spPr>
          <a:xfrm>
            <a:off x="386213" y="4436540"/>
            <a:ext cx="470079" cy="49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ea typeface="Calibri"/>
                <a:cs typeface="Calibri"/>
              </a:rPr>
              <a:t>4</a:t>
            </a:r>
            <a:endParaRPr lang="en-US" sz="24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65" name="Text 7">
            <a:extLst>
              <a:ext uri="{FF2B5EF4-FFF2-40B4-BE49-F238E27FC236}">
                <a16:creationId xmlns:a16="http://schemas.microsoft.com/office/drawing/2014/main" id="{D80CA6E2-7A45-8B07-5365-02766D19F976}"/>
              </a:ext>
            </a:extLst>
          </p:cNvPr>
          <p:cNvSpPr/>
          <p:nvPr/>
        </p:nvSpPr>
        <p:spPr>
          <a:xfrm>
            <a:off x="396240" y="2320988"/>
            <a:ext cx="470079" cy="49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  <a:ea typeface="Calibri"/>
                <a:cs typeface="Calibri"/>
              </a:rPr>
              <a:t>2</a:t>
            </a:r>
            <a:endParaRPr lang="en-US" sz="2400" b="1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2982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DFA688-40C2-C6CB-11D6-FAFFC38CC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E35611C-1260-6838-9506-262B78C7BE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913" y="426071"/>
            <a:ext cx="11390172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37160" algn="l"/>
            <a:r>
              <a:rPr lang="en-US" sz="2800" spc="-10">
                <a:solidFill>
                  <a:srgbClr val="3E3E3E"/>
                </a:solidFill>
                <a:ea typeface="Calibri"/>
              </a:rPr>
              <a:t> LIMITATIONS &amp; FUTURE ENHANCEMENTS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1D0D8B0-C603-B5CF-B903-890B1D5E7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1538883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latin typeface="Times New Roman"/>
                <a:cs typeface="Times New Roman"/>
              </a:rPr>
              <a:t>Current Limitations</a:t>
            </a:r>
            <a:endParaRPr lang="en-US" sz="2000">
              <a:latin typeface="Times New Roman"/>
              <a:cs typeface="Times New Roman"/>
            </a:endParaRPr>
          </a:p>
          <a:p>
            <a:pPr algn="l"/>
            <a:endParaRPr lang="en-US" sz="2000" b="1" dirty="0">
              <a:latin typeface="Times New Roman"/>
              <a:cs typeface="Times New Roman"/>
            </a:endParaRPr>
          </a:p>
          <a:p>
            <a:pPr marL="285750" indent="-285750" algn="l">
              <a:buFont typeface="Arial,Sans-Serif"/>
              <a:buChar char="•"/>
            </a:pPr>
            <a:endParaRPr lang="en-US" sz="1200" dirty="0">
              <a:latin typeface="Times New Roman"/>
              <a:cs typeface="Times New Roman"/>
            </a:endParaRPr>
          </a:p>
          <a:p>
            <a:pPr marL="285750" indent="-285750" algn="l">
              <a:buFont typeface="Arial,Sans-Serif"/>
              <a:buChar char="•"/>
            </a:pPr>
            <a:endParaRPr lang="en-US" sz="1200" dirty="0">
              <a:latin typeface="Times New Roman"/>
              <a:cs typeface="Times New Roman"/>
            </a:endParaRPr>
          </a:p>
          <a:p>
            <a:pPr algn="l"/>
            <a:endParaRPr lang="en-US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AD28613-9F02-E964-B1FE-1AAAB7146D85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0777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Future Enhancements</a:t>
            </a:r>
            <a:endParaRPr lang="en-US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95E78BD-3B70-EA2C-3819-11AD06501B1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15</a:t>
            </a:fld>
            <a:endParaRPr spc="-50"/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D81BA13B-7DE3-EB47-DE07-CCC20B6B67B7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53A7066F-7A5A-64A4-2DC7-97132729C9C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46A38D21-17EE-6049-B62B-7BA74EF8106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A1F553E3-6646-74CA-D065-FB0DA9A5E73A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1B0626-9672-7C71-DEB8-76EEDB3C7A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9" t="14185" r="-771" b="4799"/>
          <a:stretch>
            <a:fillRect/>
          </a:stretch>
        </p:blipFill>
        <p:spPr>
          <a:xfrm>
            <a:off x="6091837" y="1997493"/>
            <a:ext cx="5260697" cy="36262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70CCBA-03B9-439C-6F18-C60F51EF39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314" r="211" b="7773"/>
          <a:stretch>
            <a:fillRect/>
          </a:stretch>
        </p:blipFill>
        <p:spPr>
          <a:xfrm>
            <a:off x="402451" y="1887031"/>
            <a:ext cx="5689253" cy="362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80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0377A7-DC48-1897-9F6F-ACF6F7F73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61D6240-9F35-C43C-AC4B-5B997626FA2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16</a:t>
            </a:fld>
            <a:endParaRPr spc="-5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52EAFE1A-AA93-3413-DF0F-591BDD78F7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9743" y="427810"/>
            <a:ext cx="10932973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37160">
              <a:spcBef>
                <a:spcPts val="100"/>
              </a:spcBef>
            </a:pPr>
            <a:r>
              <a:rPr lang="en-US" sz="2800" spc="-10">
                <a:solidFill>
                  <a:srgbClr val="3E3E3E"/>
                </a:solidFill>
                <a:ea typeface="Calibri"/>
              </a:rPr>
              <a:t>CONCLUSION</a:t>
            </a:r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E0396849-EDE7-1AC1-742F-D3B6D36BC8A6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C313250D-1F22-0E37-2745-ECDD30EC7982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8C4CEB87-51D1-41CE-2BA0-9BACB565EB02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964E6A1E-86F6-73EE-4F59-AB5812E1BF0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2DDA95D-C253-4913-8E67-4A3CD65B976F}"/>
              </a:ext>
            </a:extLst>
          </p:cNvPr>
          <p:cNvSpPr txBox="1"/>
          <p:nvPr/>
        </p:nvSpPr>
        <p:spPr>
          <a:xfrm rot="10800000" flipV="1">
            <a:off x="751675" y="714612"/>
            <a:ext cx="10798443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0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algn="l"/>
            <a:r>
              <a:rPr lang="en-US" sz="20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In this project, we designed and implemented </a:t>
            </a:r>
            <a:r>
              <a:rPr lang="en-US" sz="2000" err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RustCPG</a:t>
            </a:r>
            <a:r>
              <a:rPr lang="en-US" sz="20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-Detect — a CPG-enhanced vulnerability detection system for Rust that extends the Rust-IR-BERT base paper in three key directions. By incorporating Code Property Graph structural features (5,093-dim) alongside </a:t>
            </a:r>
            <a:r>
              <a:rPr lang="en-US" sz="2000" err="1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GraphCodeBERT</a:t>
            </a:r>
            <a:r>
              <a:rPr lang="en-US" sz="200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 embeddings, we improved binary classification accuracy from 91.70% to 93.49% and Macro F1 from 84.81% to 89.57%on our larger, harder balanced dataset of 32,510 samples.</a:t>
            </a:r>
            <a:endParaRPr lang="en-US" sz="20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/>
            <a:endParaRPr lang="en-US" sz="20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/>
            <a:r>
              <a:rPr lang="en-US" sz="20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Our systematic GNN ablation study across four variants (Structural GCN, GCN+BERT, GCN+CPG, GAT+CPG) demonstrates that integrating full CPG features with GCN achieves the best accuracy-efficiency tradeoff. The novel 5-class hierarchical pipeline (Stage 1: Binary →Stage 2: Vulnerability Type) is a first-of-its-kind for Rust, opening new directions for fine-grained static vulnerability analysis using compiler intermediate representations and graph neural networks.</a:t>
            </a:r>
            <a:endParaRPr lang="en-US" sz="2000">
              <a:solidFill>
                <a:schemeClr val="tx1"/>
              </a:solidFill>
            </a:endParaRPr>
          </a:p>
          <a:p>
            <a:pPr algn="l"/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33093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C9F15A-8111-E38F-72C2-2FE3FA36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F29146AF-DC8A-6D36-6124-954B4680011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17</a:t>
            </a:fld>
            <a:endParaRPr spc="-5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C56D8196-C1E1-5B2C-D7F9-6F1697C6A6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01217" y="1861510"/>
            <a:ext cx="3951405" cy="247503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37160" algn="ctr">
              <a:spcBef>
                <a:spcPts val="100"/>
              </a:spcBef>
            </a:pPr>
            <a:r>
              <a:rPr lang="en-US" sz="8000" i="1" spc="-10">
                <a:solidFill>
                  <a:srgbClr val="3E3E3E"/>
                </a:solidFill>
                <a:ea typeface="Calibri"/>
              </a:rPr>
              <a:t>THANK</a:t>
            </a:r>
            <a:br>
              <a:rPr lang="en-US" sz="8000" i="1" spc="-10">
                <a:ea typeface="Calibri"/>
              </a:rPr>
            </a:br>
            <a:r>
              <a:rPr lang="en-US" sz="8000" i="1" spc="-10">
                <a:solidFill>
                  <a:srgbClr val="3E3E3E"/>
                </a:solidFill>
                <a:ea typeface="Calibri"/>
              </a:rPr>
              <a:t>YOU</a:t>
            </a:r>
            <a:endParaRPr lang="en-US" sz="8000" i="1"/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E0179297-17AE-C4F5-AF03-B5B8F6A153AC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7F607C45-8A99-E985-25A3-EA4446AB0ABD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4DB2F06E-FAB9-6A7E-857D-4441A301E910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80A7A001-F10F-071C-E963-39696FD5DD00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C6A7E30-469B-A0BE-0E3E-891C4976E124}"/>
                  </a:ext>
                </a:extLst>
              </p14:cNvPr>
              <p14:cNvContentPartPr/>
              <p14:nvPr/>
            </p14:nvContentPartPr>
            <p14:xfrm>
              <a:off x="-529166" y="3534833"/>
              <a:ext cx="10583" cy="10583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C6A7E30-469B-A0BE-0E3E-891C4976E1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058316" y="3005683"/>
                <a:ext cx="1058300" cy="10583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470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9EB183D-C2E4-2654-A1DA-AB4FD3D79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19654A8-A940-5CB1-CB82-72260C1C647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3189">
              <a:lnSpc>
                <a:spcPts val="1425"/>
              </a:lnSpc>
            </a:pPr>
            <a:fld id="{81D60167-4931-47E6-BA6A-407CBD079E47}" type="slidenum">
              <a:rPr spc="-50" dirty="0"/>
              <a:t>18</a:t>
            </a:fld>
            <a:endParaRPr spc="-5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C197FEA-6123-CB3D-58D2-633DFCEABD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6974" y="1717349"/>
            <a:ext cx="10932973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37160">
              <a:spcBef>
                <a:spcPts val="100"/>
              </a:spcBef>
            </a:pPr>
            <a:r>
              <a:rPr lang="en-US" sz="2800" spc="-10">
                <a:solidFill>
                  <a:srgbClr val="3E3E3E"/>
                </a:solidFill>
                <a:ea typeface="Calibri"/>
              </a:rPr>
              <a:t>ARE WE INTERESTED IN PUBLISHING A RESEARCH PAPER ?</a:t>
            </a:r>
          </a:p>
        </p:txBody>
      </p:sp>
      <p:grpSp>
        <p:nvGrpSpPr>
          <p:cNvPr id="6" name="Google Shape;91;p1">
            <a:extLst>
              <a:ext uri="{FF2B5EF4-FFF2-40B4-BE49-F238E27FC236}">
                <a16:creationId xmlns:a16="http://schemas.microsoft.com/office/drawing/2014/main" id="{9E11D08A-FE56-ABF1-3BF8-E84DE98F7DAB}"/>
              </a:ext>
            </a:extLst>
          </p:cNvPr>
          <p:cNvGrpSpPr/>
          <p:nvPr/>
        </p:nvGrpSpPr>
        <p:grpSpPr>
          <a:xfrm>
            <a:off x="0" y="6342887"/>
            <a:ext cx="12191999" cy="515111"/>
            <a:chOff x="0" y="6342887"/>
            <a:chExt cx="12191999" cy="515111"/>
          </a:xfrm>
        </p:grpSpPr>
        <p:pic>
          <p:nvPicPr>
            <p:cNvPr id="7" name="Google Shape;92;p1">
              <a:extLst>
                <a:ext uri="{FF2B5EF4-FFF2-40B4-BE49-F238E27FC236}">
                  <a16:creationId xmlns:a16="http://schemas.microsoft.com/office/drawing/2014/main" id="{50F4B05A-9342-7E43-00B4-4A845292228B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26492" y="6490714"/>
              <a:ext cx="1781556" cy="3139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93;p1">
              <a:extLst>
                <a:ext uri="{FF2B5EF4-FFF2-40B4-BE49-F238E27FC236}">
                  <a16:creationId xmlns:a16="http://schemas.microsoft.com/office/drawing/2014/main" id="{9A5386F3-E71D-8244-CC85-B9FA0A6AC474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6342887"/>
              <a:ext cx="12191999" cy="515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" name="Google Shape;94;p1">
              <a:extLst>
                <a:ext uri="{FF2B5EF4-FFF2-40B4-BE49-F238E27FC236}">
                  <a16:creationId xmlns:a16="http://schemas.microsoft.com/office/drawing/2014/main" id="{0621B2A1-4327-68DF-7C8A-E98F347F774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22503" y="6446518"/>
              <a:ext cx="1781556" cy="31394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05ABAB0-50C8-C0B5-D4DE-16C3299371E8}"/>
              </a:ext>
            </a:extLst>
          </p:cNvPr>
          <p:cNvSpPr/>
          <p:nvPr/>
        </p:nvSpPr>
        <p:spPr>
          <a:xfrm>
            <a:off x="2719916" y="2878666"/>
            <a:ext cx="338666" cy="3280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E6F127-5F3E-FACC-837F-A8315B66EC1E}"/>
              </a:ext>
            </a:extLst>
          </p:cNvPr>
          <p:cNvSpPr/>
          <p:nvPr/>
        </p:nvSpPr>
        <p:spPr>
          <a:xfrm>
            <a:off x="2719916" y="3425742"/>
            <a:ext cx="338666" cy="3280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0A0BBB-C1FF-A0DC-1408-7222962D35B3}"/>
              </a:ext>
            </a:extLst>
          </p:cNvPr>
          <p:cNvSpPr txBox="1"/>
          <p:nvPr/>
        </p:nvSpPr>
        <p:spPr>
          <a:xfrm>
            <a:off x="3376083" y="2899833"/>
            <a:ext cx="13969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Times New Roman"/>
                <a:cs typeface="Times New Roman"/>
              </a:rPr>
              <a:t>YES</a:t>
            </a: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4B79A6-0770-1F56-3BBC-D2D5FFA507EC}"/>
              </a:ext>
            </a:extLst>
          </p:cNvPr>
          <p:cNvSpPr txBox="1"/>
          <p:nvPr/>
        </p:nvSpPr>
        <p:spPr>
          <a:xfrm>
            <a:off x="3376083" y="3427371"/>
            <a:ext cx="13969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NO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6AD4D41-6F37-8474-A599-872E06D41DA0}"/>
                  </a:ext>
                </a:extLst>
              </p14:cNvPr>
              <p14:cNvContentPartPr/>
              <p14:nvPr/>
            </p14:nvContentPartPr>
            <p14:xfrm>
              <a:off x="2762250" y="3262987"/>
              <a:ext cx="522446" cy="460879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6AD4D41-6F37-8474-A599-872E06D41D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44259" y="3244998"/>
                <a:ext cx="558067" cy="4964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A4B5BF8-971B-8785-0669-4645D0CBFCCA}"/>
                  </a:ext>
                </a:extLst>
              </p14:cNvPr>
              <p14:cNvContentPartPr/>
              <p14:nvPr/>
            </p14:nvContentPartPr>
            <p14:xfrm>
              <a:off x="-529166" y="3534833"/>
              <a:ext cx="10583" cy="10583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A4B5BF8-971B-8785-0669-4645D0CBFCC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1058316" y="3005683"/>
                <a:ext cx="1058300" cy="10583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3496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1406</Words>
  <Application>Microsoft Office PowerPoint</Application>
  <PresentationFormat>Widescreen</PresentationFormat>
  <Paragraphs>216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Arial MT</vt:lpstr>
      <vt:lpstr>Arial,Sans-Serif</vt:lpstr>
      <vt:lpstr>Calibri</vt:lpstr>
      <vt:lpstr>Times New Roman</vt:lpstr>
      <vt:lpstr>Wingdings</vt:lpstr>
      <vt:lpstr>Office Theme</vt:lpstr>
      <vt:lpstr>PowerPoint Presentation</vt:lpstr>
      <vt:lpstr>CONTENTS</vt:lpstr>
      <vt:lpstr>INTRODUCTION</vt:lpstr>
      <vt:lpstr>PROBLEM STATEMENT</vt:lpstr>
      <vt:lpstr>LITERATURE SURVEY</vt:lpstr>
      <vt:lpstr>LITERATURE SURVEY</vt:lpstr>
      <vt:lpstr>BASE PAPER SUMMARY — Rust-IR-BERT </vt:lpstr>
      <vt:lpstr>BASE PAPER SUMMARY </vt:lpstr>
      <vt:lpstr>PROJECT OVERVIEW — RustCPG-Detect</vt:lpstr>
      <vt:lpstr>SYSTEM ARCHITECTURE - Pipeline</vt:lpstr>
      <vt:lpstr>DATASET </vt:lpstr>
      <vt:lpstr>GNN ABLATION STUDY — 4 Variants (Binary Classification)</vt:lpstr>
      <vt:lpstr>PowerPoint Presentation</vt:lpstr>
      <vt:lpstr>NOVELTY</vt:lpstr>
      <vt:lpstr> LIMITATIONS &amp; FUTURE ENHANCEMENTS</vt:lpstr>
      <vt:lpstr>CONCLUSION</vt:lpstr>
      <vt:lpstr>THANK YOU</vt:lpstr>
      <vt:lpstr>ARE WE INTERESTED IN PUBLISHING A RESEARCH PAPER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Kaarthikeya Lakshman Ganji</dc:creator>
  <cp:lastModifiedBy>Kaarthikeya Lakshman Ganji</cp:lastModifiedBy>
  <cp:revision>620</cp:revision>
  <dcterms:created xsi:type="dcterms:W3CDTF">2025-02-14T23:17:08Z</dcterms:created>
  <dcterms:modified xsi:type="dcterms:W3CDTF">2026-03-06T17:37:32Z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2025-02-14T00:00:00Z</vt:filetime>
  </property>
  <property fmtid="{D5CDD505-2E9C-101B-9397-08002B2CF9AE}" pid="5" name="Producer">
    <vt:lpwstr>www.ilovepdf.com</vt:lpwstr>
  </property>
</Properties>
</file>